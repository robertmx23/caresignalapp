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32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645920"/>
            <a:ext cx="4754880" cy="4754880"/>
          </a:xfrm>
          <a:prstGeom prst="ellipse">
            <a:avLst/>
          </a:prstGeom>
          <a:solidFill>
            <a:srgbClr val="1E4A2E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663440"/>
            <a:ext cx="3657600" cy="3657600"/>
          </a:xfrm>
          <a:prstGeom prst="ellipse">
            <a:avLst/>
          </a:prstGeom>
          <a:solidFill>
            <a:srgbClr val="1E4A2E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1371600"/>
            <a:ext cx="164592" cy="164592"/>
          </a:xfrm>
          <a:prstGeom prst="ellipse">
            <a:avLst/>
          </a:prstGeom>
          <a:solidFill>
            <a:srgbClr val="1E8E4E"/>
          </a:solidFill>
          <a:ln/>
        </p:spPr>
      </p:sp>
      <p:sp>
        <p:nvSpPr>
          <p:cNvPr id="5" name="Shape 3"/>
          <p:cNvSpPr/>
          <p:nvPr/>
        </p:nvSpPr>
        <p:spPr>
          <a:xfrm>
            <a:off x="859536" y="1371600"/>
            <a:ext cx="164592" cy="164592"/>
          </a:xfrm>
          <a:prstGeom prst="ellipse">
            <a:avLst/>
          </a:prstGeom>
          <a:solidFill>
            <a:srgbClr val="0E9E8F"/>
          </a:solidFill>
          <a:ln/>
        </p:spPr>
      </p:sp>
      <p:sp>
        <p:nvSpPr>
          <p:cNvPr id="6" name="Shape 4"/>
          <p:cNvSpPr/>
          <p:nvPr/>
        </p:nvSpPr>
        <p:spPr>
          <a:xfrm>
            <a:off x="1152144" y="1371600"/>
            <a:ext cx="164592" cy="164592"/>
          </a:xfrm>
          <a:prstGeom prst="ellipse">
            <a:avLst/>
          </a:prstGeom>
          <a:solidFill>
            <a:srgbClr val="2A6BD4"/>
          </a:solidFill>
          <a:ln/>
        </p:spPr>
      </p:sp>
      <p:sp>
        <p:nvSpPr>
          <p:cNvPr id="7" name="Shape 5"/>
          <p:cNvSpPr/>
          <p:nvPr/>
        </p:nvSpPr>
        <p:spPr>
          <a:xfrm>
            <a:off x="1444752" y="1371600"/>
            <a:ext cx="164592" cy="164592"/>
          </a:xfrm>
          <a:prstGeom prst="ellipse">
            <a:avLst/>
          </a:prstGeom>
          <a:solidFill>
            <a:srgbClr val="E0902B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691640"/>
            <a:ext cx="8046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CareSignal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548640" y="292608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CF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de rondas verificable y trazable para su residencia — sin hardware ni papeleo.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4023360"/>
            <a:ext cx="3200400" cy="457200"/>
          </a:xfrm>
          <a:prstGeom prst="roundRect">
            <a:avLst>
              <a:gd name="adj" fmla="val 20000"/>
            </a:avLst>
          </a:prstGeom>
          <a:solidFill>
            <a:srgbClr val="1E8E4E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40233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PARA DIRECCIÓN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48463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C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directores, supervisores y personal de cuidado de casas de adultos mayores.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6126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F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[Nombre del ejecutivo]  ·  [correo]  ·  [teléfono]  ·  [fecha]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869680" y="1325880"/>
            <a:ext cx="2240280" cy="4343400"/>
          </a:xfrm>
          <a:prstGeom prst="roundRect">
            <a:avLst>
              <a:gd name="adj" fmla="val 9796"/>
            </a:avLst>
          </a:prstGeom>
          <a:solidFill>
            <a:srgbClr val="20302B"/>
          </a:solidFill>
          <a:ln/>
        </p:spPr>
      </p:sp>
      <p:sp>
        <p:nvSpPr>
          <p:cNvPr id="15" name="Shape 13"/>
          <p:cNvSpPr/>
          <p:nvPr/>
        </p:nvSpPr>
        <p:spPr>
          <a:xfrm>
            <a:off x="8988552" y="1499616"/>
            <a:ext cx="2002536" cy="3995928"/>
          </a:xfrm>
          <a:prstGeom prst="roundRect">
            <a:avLst>
              <a:gd name="adj" fmla="val 7306"/>
            </a:avLst>
          </a:prstGeom>
          <a:solidFill>
            <a:srgbClr val="FBFDFC"/>
          </a:solidFill>
          <a:ln/>
        </p:spPr>
      </p:sp>
      <p:sp>
        <p:nvSpPr>
          <p:cNvPr id="16" name="Shape 14"/>
          <p:cNvSpPr/>
          <p:nvPr/>
        </p:nvSpPr>
        <p:spPr>
          <a:xfrm>
            <a:off x="9733788" y="1389888"/>
            <a:ext cx="512064" cy="109728"/>
          </a:xfrm>
          <a:prstGeom prst="roundRect">
            <a:avLst>
              <a:gd name="adj" fmla="val 50000"/>
            </a:avLst>
          </a:prstGeom>
          <a:solidFill>
            <a:srgbClr val="20302B"/>
          </a:solidFill>
          <a:ln/>
        </p:spPr>
      </p:sp>
      <p:sp>
        <p:nvSpPr>
          <p:cNvPr id="17" name="Shape 15"/>
          <p:cNvSpPr/>
          <p:nvPr/>
        </p:nvSpPr>
        <p:spPr>
          <a:xfrm>
            <a:off x="8988552" y="1499616"/>
            <a:ext cx="2002536" cy="566928"/>
          </a:xfrm>
          <a:prstGeom prst="roundRect">
            <a:avLst>
              <a:gd name="adj" fmla="val 22581"/>
            </a:avLst>
          </a:prstGeom>
          <a:solidFill>
            <a:srgbClr val="15321F"/>
          </a:solidFill>
          <a:ln/>
        </p:spPr>
      </p:sp>
      <p:sp>
        <p:nvSpPr>
          <p:cNvPr id="18" name="Shape 16"/>
          <p:cNvSpPr/>
          <p:nvPr/>
        </p:nvSpPr>
        <p:spPr>
          <a:xfrm>
            <a:off x="8988552" y="1819656"/>
            <a:ext cx="2002536" cy="246888"/>
          </a:xfrm>
          <a:prstGeom prst="rect">
            <a:avLst/>
          </a:prstGeom>
          <a:solidFill>
            <a:srgbClr val="15321F"/>
          </a:solidFill>
          <a:ln/>
        </p:spPr>
      </p:sp>
      <p:sp>
        <p:nvSpPr>
          <p:cNvPr id="19" name="Text 17"/>
          <p:cNvSpPr/>
          <p:nvPr/>
        </p:nvSpPr>
        <p:spPr>
          <a:xfrm>
            <a:off x="9134856" y="1591056"/>
            <a:ext cx="1709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· Turno AM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134856" y="2212848"/>
            <a:ext cx="521208" cy="603504"/>
          </a:xfrm>
          <a:prstGeom prst="roundRect">
            <a:avLst>
              <a:gd name="adj" fmla="val 14035"/>
            </a:avLst>
          </a:prstGeom>
          <a:solidFill>
            <a:srgbClr val="F3F8F5"/>
          </a:solidFill>
          <a:ln w="12700">
            <a:solidFill>
              <a:srgbClr val="DCE7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34856" y="2249424"/>
            <a:ext cx="521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8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134856" y="2560320"/>
            <a:ext cx="521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9729216" y="2212848"/>
            <a:ext cx="521208" cy="603504"/>
          </a:xfrm>
          <a:prstGeom prst="roundRect">
            <a:avLst>
              <a:gd name="adj" fmla="val 14035"/>
            </a:avLst>
          </a:prstGeom>
          <a:solidFill>
            <a:srgbClr val="F3F8F5"/>
          </a:solidFill>
          <a:ln w="12700">
            <a:solidFill>
              <a:srgbClr val="DCE7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729216" y="2249424"/>
            <a:ext cx="521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09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729216" y="2560320"/>
            <a:ext cx="521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Amar.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0323576" y="2212848"/>
            <a:ext cx="521208" cy="603504"/>
          </a:xfrm>
          <a:prstGeom prst="roundRect">
            <a:avLst>
              <a:gd name="adj" fmla="val 14035"/>
            </a:avLst>
          </a:prstGeom>
          <a:solidFill>
            <a:srgbClr val="F3F8F5"/>
          </a:solidFill>
          <a:ln w="12700">
            <a:solidFill>
              <a:srgbClr val="DCE7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323576" y="2249424"/>
            <a:ext cx="521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323576" y="2560320"/>
            <a:ext cx="521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Rojo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9134856" y="2926080"/>
            <a:ext cx="1709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Requieren atención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134856" y="3182112"/>
            <a:ext cx="1709928" cy="457200"/>
          </a:xfrm>
          <a:prstGeom prst="roundRect">
            <a:avLst>
              <a:gd name="adj" fmla="val 16000"/>
            </a:avLst>
          </a:prstGeom>
          <a:solidFill>
            <a:srgbClr val="F3F8F5"/>
          </a:solidFill>
          <a:ln w="12700">
            <a:solidFill>
              <a:srgbClr val="DCE7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226296" y="3300984"/>
            <a:ext cx="219456" cy="219456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32" name="Text 30"/>
          <p:cNvSpPr/>
          <p:nvPr/>
        </p:nvSpPr>
        <p:spPr>
          <a:xfrm>
            <a:off x="9226296" y="3282696"/>
            <a:ext cx="2194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537192" y="3182112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 15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0067544" y="3182112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vencida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9134856" y="3712464"/>
            <a:ext cx="1709928" cy="457200"/>
          </a:xfrm>
          <a:prstGeom prst="roundRect">
            <a:avLst>
              <a:gd name="adj" fmla="val 16000"/>
            </a:avLst>
          </a:prstGeom>
          <a:solidFill>
            <a:srgbClr val="F3F8F5"/>
          </a:solidFill>
          <a:ln w="12700">
            <a:solidFill>
              <a:srgbClr val="DCE7E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226296" y="3831336"/>
            <a:ext cx="219456" cy="219456"/>
          </a:xfrm>
          <a:prstGeom prst="ellipse">
            <a:avLst/>
          </a:prstGeom>
          <a:solidFill>
            <a:srgbClr val="E0902B"/>
          </a:solidFill>
          <a:ln/>
        </p:spPr>
      </p:sp>
      <p:sp>
        <p:nvSpPr>
          <p:cNvPr id="37" name="Text 35"/>
          <p:cNvSpPr/>
          <p:nvPr/>
        </p:nvSpPr>
        <p:spPr>
          <a:xfrm>
            <a:off x="9226296" y="3813048"/>
            <a:ext cx="2194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9537192" y="3712464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 08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0067544" y="3712464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9134856" y="4242816"/>
            <a:ext cx="1709928" cy="457200"/>
          </a:xfrm>
          <a:prstGeom prst="roundRect">
            <a:avLst>
              <a:gd name="adj" fmla="val 16000"/>
            </a:avLst>
          </a:prstGeom>
          <a:solidFill>
            <a:srgbClr val="F3F8F5"/>
          </a:solidFill>
          <a:ln w="12700">
            <a:solidFill>
              <a:srgbClr val="DCE7E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226296" y="4361688"/>
            <a:ext cx="219456" cy="219456"/>
          </a:xfrm>
          <a:prstGeom prst="ellipse">
            <a:avLst/>
          </a:prstGeom>
          <a:solidFill>
            <a:srgbClr val="1E8E4E"/>
          </a:solidFill>
          <a:ln/>
        </p:spPr>
      </p:sp>
      <p:sp>
        <p:nvSpPr>
          <p:cNvPr id="42" name="Text 40"/>
          <p:cNvSpPr/>
          <p:nvPr/>
        </p:nvSpPr>
        <p:spPr>
          <a:xfrm>
            <a:off x="9226296" y="4343400"/>
            <a:ext cx="2194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9537192" y="4242816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 12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10067544" y="4242816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día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9134856" y="4773168"/>
            <a:ext cx="1709928" cy="457200"/>
          </a:xfrm>
          <a:prstGeom prst="roundRect">
            <a:avLst>
              <a:gd name="adj" fmla="val 16000"/>
            </a:avLst>
          </a:prstGeom>
          <a:solidFill>
            <a:srgbClr val="F3F8F5"/>
          </a:solidFill>
          <a:ln w="12700">
            <a:solidFill>
              <a:srgbClr val="DCE7E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226296" y="4892040"/>
            <a:ext cx="219456" cy="219456"/>
          </a:xfrm>
          <a:prstGeom prst="ellipse">
            <a:avLst/>
          </a:prstGeom>
          <a:solidFill>
            <a:srgbClr val="6B7A72"/>
          </a:solidFill>
          <a:ln/>
        </p:spPr>
      </p:sp>
      <p:sp>
        <p:nvSpPr>
          <p:cNvPr id="47" name="Text 45"/>
          <p:cNvSpPr/>
          <p:nvPr/>
        </p:nvSpPr>
        <p:spPr>
          <a:xfrm>
            <a:off x="9226296" y="4873752"/>
            <a:ext cx="2194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9537192" y="4773168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 20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10067544" y="4773168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</a:t>
            </a:r>
            <a:endParaRPr lang="en-US" sz="850" dirty="0"/>
          </a:p>
        </p:txBody>
      </p:sp>
      <p:sp>
        <p:nvSpPr>
          <p:cNvPr id="50" name="TextBox 49"/>
          <p:cNvSpPr txBox="1"/>
          <p:nvPr/>
        </p:nvSpPr>
        <p:spPr>
          <a:xfrm rot="16200000">
            <a:off x="8887968" y="3282696"/>
            <a:ext cx="603504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750">
                <a:solidFill>
                  <a:srgbClr val="8A8A8A"/>
                </a:solidFill>
                <a:latin typeface="Calibri"/>
              </a:rPr>
              <a:t>© 2026 Roberto García  ·  CareSignal  ·  linkedin.com/in/robertogarciaits  ·  robertogarciaits@gmail.com  ·  844 588 1313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no hay forma simple de comprobar el cuidado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E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 rondas de verificación se coordinan con papel, mensajes y memoria. Cuando algo se omite o se retrasa, nadie lo ve a tiempo — y después no hay cómo demostrar qué pasó.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440680" cy="1536192"/>
          </a:xfrm>
          <a:prstGeom prst="roundRect">
            <a:avLst>
              <a:gd name="adj" fmla="val 4762"/>
            </a:avLst>
          </a:prstGeom>
          <a:solidFill>
            <a:srgbClr val="F3F8F5"/>
          </a:solidFill>
          <a:ln w="12700">
            <a:solidFill>
              <a:srgbClr val="DCE7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542032"/>
            <a:ext cx="411480" cy="411480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5420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25880" y="248716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visibilidad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325880" y="2889504"/>
            <a:ext cx="4526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E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Nadie sabe en el momento qué ronda está pendiente o vencida.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72200" y="2286000"/>
            <a:ext cx="5440680" cy="1536192"/>
          </a:xfrm>
          <a:prstGeom prst="roundRect">
            <a:avLst>
              <a:gd name="adj" fmla="val 4762"/>
            </a:avLst>
          </a:prstGeom>
          <a:solidFill>
            <a:srgbClr val="F3F8F5"/>
          </a:solidFill>
          <a:ln w="12700">
            <a:solidFill>
              <a:srgbClr val="DCE7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0" y="2542032"/>
            <a:ext cx="411480" cy="411480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25420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949440" y="248716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sin dueño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949440" y="2889504"/>
            <a:ext cx="4526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E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aviso por WhatsApp se pierde; no hay responsable ni escalamiento.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977640"/>
            <a:ext cx="5440680" cy="1536192"/>
          </a:xfrm>
          <a:prstGeom prst="roundRect">
            <a:avLst>
              <a:gd name="adj" fmla="val 4762"/>
            </a:avLst>
          </a:prstGeom>
          <a:solidFill>
            <a:srgbClr val="F3F8F5"/>
          </a:solidFill>
          <a:ln w="12700">
            <a:solidFill>
              <a:srgbClr val="DCE7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4233672"/>
            <a:ext cx="411480" cy="411480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2336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25880" y="417880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 evidencia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325880" y="4581144"/>
            <a:ext cx="4526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E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registro horario de quién verificó, cuándo y con qué resultado.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72200" y="3977640"/>
            <a:ext cx="5440680" cy="1536192"/>
          </a:xfrm>
          <a:prstGeom prst="roundRect">
            <a:avLst>
              <a:gd name="adj" fmla="val 4762"/>
            </a:avLst>
          </a:prstGeom>
          <a:solidFill>
            <a:srgbClr val="F3F8F5"/>
          </a:solidFill>
          <a:ln w="12700">
            <a:solidFill>
              <a:srgbClr val="DCE7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4233672"/>
            <a:ext cx="411480" cy="411480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42336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949440" y="417880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del supervisor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6949440" y="4581144"/>
            <a:ext cx="4526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E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y reconstruir lo ocurrido consume horas administrativas.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CareSignal · Propuesta para su residencia · confidencial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27" name="TextBox 26"/>
          <p:cNvSpPr txBox="1"/>
          <p:nvPr/>
        </p:nvSpPr>
        <p:spPr>
          <a:xfrm rot="16200000">
            <a:off x="8887968" y="3282696"/>
            <a:ext cx="603504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750">
                <a:solidFill>
                  <a:srgbClr val="8A8A8A"/>
                </a:solidFill>
                <a:latin typeface="Calibri"/>
              </a:rPr>
              <a:t>© 2026 Roberto García  ·  CareSignal  ·  linkedin.com/in/robertogarciaits  ·  robertogarciaits@gmail.com  ·  844 588 1313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COSTO DE NO ACTUAR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está en juego cada turno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5440680" cy="1920240"/>
          </a:xfrm>
          <a:prstGeom prst="roundRect">
            <a:avLst>
              <a:gd name="adj" fmla="val 3810"/>
            </a:avLst>
          </a:prstGeom>
          <a:solidFill>
            <a:srgbClr val="F3F8F5"/>
          </a:solidFill>
          <a:ln w="12700">
            <a:solidFill>
              <a:srgbClr val="DCE7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8288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64545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865376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Incidentes evitables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2532888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E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omisión no detectada a tiempo puede volverse un incidente serio.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1572768"/>
            <a:ext cx="5440680" cy="1920240"/>
          </a:xfrm>
          <a:prstGeom prst="roundRect">
            <a:avLst>
              <a:gd name="adj" fmla="val 3810"/>
            </a:avLst>
          </a:prstGeom>
          <a:solidFill>
            <a:srgbClr val="F3F8F5"/>
          </a:solidFill>
          <a:ln w="12700">
            <a:solidFill>
              <a:srgbClr val="DCE7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28232" y="18288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E0902B"/>
          </a:solidFill>
          <a:ln/>
        </p:spPr>
      </p:sp>
      <p:sp>
        <p:nvSpPr>
          <p:cNvPr id="11" name="Text 9"/>
          <p:cNvSpPr/>
          <p:nvPr/>
        </p:nvSpPr>
        <p:spPr>
          <a:xfrm>
            <a:off x="6428232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086600" y="1865376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Reclamos sin defensa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64808" y="2532888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E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 una familia molesta, sin bitácora no hay cómo demostrar qué se hizo.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657600"/>
            <a:ext cx="5440680" cy="1920240"/>
          </a:xfrm>
          <a:prstGeom prst="roundRect">
            <a:avLst>
              <a:gd name="adj" fmla="val 3810"/>
            </a:avLst>
          </a:prstGeom>
          <a:solidFill>
            <a:srgbClr val="F3F8F5"/>
          </a:solidFill>
          <a:ln w="12700">
            <a:solidFill>
              <a:srgbClr val="DCE7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" y="3913632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E0902B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39136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63040" y="395020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reputacional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1248" y="4617720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E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caso mal manejado afecta la confianza y la ocupación de la residencia.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72200" y="3657600"/>
            <a:ext cx="5440680" cy="1920240"/>
          </a:xfrm>
          <a:prstGeom prst="roundRect">
            <a:avLst>
              <a:gd name="adj" fmla="val 3810"/>
            </a:avLst>
          </a:prstGeom>
          <a:solidFill>
            <a:srgbClr val="F3F8F5"/>
          </a:solidFill>
          <a:ln w="12700">
            <a:solidFill>
              <a:srgbClr val="DCE7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28232" y="3913632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2A6BD4"/>
          </a:solidFill>
          <a:ln/>
        </p:spPr>
      </p:sp>
      <p:sp>
        <p:nvSpPr>
          <p:cNvPr id="21" name="Text 19"/>
          <p:cNvSpPr/>
          <p:nvPr/>
        </p:nvSpPr>
        <p:spPr>
          <a:xfrm>
            <a:off x="6428232" y="39136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086600" y="395020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administrativo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64808" y="4617720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E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de supervisión gastadas en reconstruir información dispersa.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crece con la demografía: más residentes por cuidador y mayor rotación de personal.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CareSignal · Propuesta para su residencia · confidencial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7" name="TextBox 26"/>
          <p:cNvSpPr txBox="1"/>
          <p:nvPr/>
        </p:nvSpPr>
        <p:spPr>
          <a:xfrm rot="16200000">
            <a:off x="8887968" y="3282696"/>
            <a:ext cx="603504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750">
                <a:solidFill>
                  <a:srgbClr val="8A8A8A"/>
                </a:solidFill>
                <a:latin typeface="Calibri"/>
              </a:rPr>
              <a:t>© 2026 Roberto García  ·  CareSignal  ·  linkedin.com/in/robertogarciaits  ·  robertogarciaits@gmail.com  ·  844 588 1313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CareSignal: registrar, alertar, escalar y comprobar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E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aplicación web sencilla que convierte sus rondas en un flujo con responsable, alertas automáticas y una bitácora imposible de perder.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F3F8F5"/>
          </a:solidFill>
          <a:ln w="12700">
            <a:solidFill>
              <a:srgbClr val="DCE7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54203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E8E4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5420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2505456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Sencillo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71600" y="292608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E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y móvil, en español. Sin sensores ni instalación; el personal lo usa en minutos.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15968" y="228600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F3F8F5"/>
          </a:solidFill>
          <a:ln w="12700">
            <a:solidFill>
              <a:srgbClr val="DCE7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44568" y="254203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E9E8F"/>
          </a:solidFill>
          <a:ln/>
        </p:spPr>
      </p:sp>
      <p:sp>
        <p:nvSpPr>
          <p:cNvPr id="12" name="Text 10"/>
          <p:cNvSpPr/>
          <p:nvPr/>
        </p:nvSpPr>
        <p:spPr>
          <a:xfrm>
            <a:off x="4544568" y="25420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138928" y="2505456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 costo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138928" y="292608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E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hardware ni backend pesado. Suscripción por residencia o por plaza.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74152" y="228600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F3F8F5"/>
          </a:solidFill>
          <a:ln w="12700">
            <a:solidFill>
              <a:srgbClr val="DCE7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02752" y="254203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A6BD4"/>
          </a:solidFill>
          <a:ln/>
        </p:spPr>
      </p:sp>
      <p:sp>
        <p:nvSpPr>
          <p:cNvPr id="17" name="Text 15"/>
          <p:cNvSpPr/>
          <p:nvPr/>
        </p:nvSpPr>
        <p:spPr>
          <a:xfrm>
            <a:off x="8302752" y="25420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897112" y="2505456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897112" y="292608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E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acción registra actor + fecha + hora en una bitácora que no se edita.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114800"/>
            <a:ext cx="11091672" cy="1554480"/>
          </a:xfrm>
          <a:prstGeom prst="roundRect">
            <a:avLst>
              <a:gd name="adj" fmla="val 4706"/>
            </a:avLst>
          </a:prstGeom>
          <a:solidFill>
            <a:srgbClr val="15321F"/>
          </a:solidFill>
          <a:ln w="12700">
            <a:solidFill>
              <a:srgbClr val="DCE7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2793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NO 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2960" y="4681728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CF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 dispositivo médico ni sustituye a su personal. No mide signos vitales, no diagnostica y no maneja expedientes clínicos. Apoya la operación del cuidado — la decisión siempre es de su equipo.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CareSignal · Propuesta para su residencia · confidencial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5" name="TextBox 24"/>
          <p:cNvSpPr txBox="1"/>
          <p:nvPr/>
        </p:nvSpPr>
        <p:spPr>
          <a:xfrm rot="16200000">
            <a:off x="8887968" y="3282696"/>
            <a:ext cx="603504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750">
                <a:solidFill>
                  <a:srgbClr val="8A8A8A"/>
                </a:solidFill>
                <a:latin typeface="Calibri"/>
              </a:rPr>
              <a:t>© 2026 Roberto García  ·  CareSignal  ·  linkedin.com/in/robertogarciaits  ·  robertogarciaits@gmail.com  ·  844 588 1313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6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flujo, cinco pantallas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572768" cy="1463040"/>
          </a:xfrm>
          <a:prstGeom prst="roundRect">
            <a:avLst>
              <a:gd name="adj" fmla="val 5000"/>
            </a:avLst>
          </a:prstGeom>
          <a:solidFill>
            <a:srgbClr val="F3F8F5"/>
          </a:solidFill>
          <a:ln w="12700">
            <a:solidFill>
              <a:srgbClr val="DCE7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3856" y="2011680"/>
            <a:ext cx="402336" cy="402336"/>
          </a:xfrm>
          <a:prstGeom prst="ellipse">
            <a:avLst/>
          </a:prstGeom>
          <a:solidFill>
            <a:srgbClr val="2A6BD4"/>
          </a:solidFill>
          <a:ln/>
        </p:spPr>
      </p:sp>
      <p:sp>
        <p:nvSpPr>
          <p:cNvPr id="6" name="Text 4"/>
          <p:cNvSpPr/>
          <p:nvPr/>
        </p:nvSpPr>
        <p:spPr>
          <a:xfrm>
            <a:off x="1133856" y="20116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85216" y="2487168"/>
            <a:ext cx="14996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85216" y="2779776"/>
            <a:ext cx="149961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programada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093976" y="1828800"/>
            <a:ext cx="16459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9A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2212848" y="1828800"/>
            <a:ext cx="1572768" cy="1463040"/>
          </a:xfrm>
          <a:prstGeom prst="roundRect">
            <a:avLst>
              <a:gd name="adj" fmla="val 5000"/>
            </a:avLst>
          </a:prstGeom>
          <a:solidFill>
            <a:srgbClr val="F3F8F5"/>
          </a:solidFill>
          <a:ln w="12700">
            <a:solidFill>
              <a:srgbClr val="DCE7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98064" y="2011680"/>
            <a:ext cx="402336" cy="402336"/>
          </a:xfrm>
          <a:prstGeom prst="ellipse">
            <a:avLst/>
          </a:prstGeom>
          <a:solidFill>
            <a:srgbClr val="E0902B"/>
          </a:solidFill>
          <a:ln/>
        </p:spPr>
      </p:sp>
      <p:sp>
        <p:nvSpPr>
          <p:cNvPr id="12" name="Text 10"/>
          <p:cNvSpPr/>
          <p:nvPr/>
        </p:nvSpPr>
        <p:spPr>
          <a:xfrm>
            <a:off x="2798064" y="20116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249424" y="2487168"/>
            <a:ext cx="14996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49424" y="2779776"/>
            <a:ext cx="149961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amarilla / roja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758184" y="1828800"/>
            <a:ext cx="16459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9A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3877056" y="1828800"/>
            <a:ext cx="1572768" cy="1463040"/>
          </a:xfrm>
          <a:prstGeom prst="roundRect">
            <a:avLst>
              <a:gd name="adj" fmla="val 5000"/>
            </a:avLst>
          </a:prstGeom>
          <a:solidFill>
            <a:srgbClr val="F3F8F5"/>
          </a:solidFill>
          <a:ln w="12700">
            <a:solidFill>
              <a:srgbClr val="DCE7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62272" y="2011680"/>
            <a:ext cx="402336" cy="402336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18" name="Text 16"/>
          <p:cNvSpPr/>
          <p:nvPr/>
        </p:nvSpPr>
        <p:spPr>
          <a:xfrm>
            <a:off x="4462272" y="20116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913632" y="2487168"/>
            <a:ext cx="14996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Escalamiento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913632" y="2779776"/>
            <a:ext cx="149961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responsable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22392" y="1828800"/>
            <a:ext cx="16459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9A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5541264" y="1828800"/>
            <a:ext cx="1572768" cy="1463040"/>
          </a:xfrm>
          <a:prstGeom prst="roundRect">
            <a:avLst>
              <a:gd name="adj" fmla="val 5000"/>
            </a:avLst>
          </a:prstGeom>
          <a:solidFill>
            <a:srgbClr val="F3F8F5"/>
          </a:solidFill>
          <a:ln w="12700">
            <a:solidFill>
              <a:srgbClr val="DCE7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26480" y="2011680"/>
            <a:ext cx="402336" cy="402336"/>
          </a:xfrm>
          <a:prstGeom prst="ellipse">
            <a:avLst/>
          </a:prstGeom>
          <a:solidFill>
            <a:srgbClr val="0E9E8F"/>
          </a:solidFill>
          <a:ln/>
        </p:spPr>
      </p:sp>
      <p:sp>
        <p:nvSpPr>
          <p:cNvPr id="24" name="Text 22"/>
          <p:cNvSpPr/>
          <p:nvPr/>
        </p:nvSpPr>
        <p:spPr>
          <a:xfrm>
            <a:off x="6126480" y="20116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577840" y="2487168"/>
            <a:ext cx="14996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577840" y="2779776"/>
            <a:ext cx="149961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personal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086600" y="1828800"/>
            <a:ext cx="16459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9A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7205472" y="1828800"/>
            <a:ext cx="1572768" cy="1463040"/>
          </a:xfrm>
          <a:prstGeom prst="roundRect">
            <a:avLst>
              <a:gd name="adj" fmla="val 5000"/>
            </a:avLst>
          </a:prstGeom>
          <a:solidFill>
            <a:srgbClr val="F3F8F5"/>
          </a:solidFill>
          <a:ln w="12700">
            <a:solidFill>
              <a:srgbClr val="DCE7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90688" y="2011680"/>
            <a:ext cx="402336" cy="402336"/>
          </a:xfrm>
          <a:prstGeom prst="ellipse">
            <a:avLst/>
          </a:prstGeom>
          <a:solidFill>
            <a:srgbClr val="1E8E4E"/>
          </a:solidFill>
          <a:ln/>
        </p:spPr>
      </p:sp>
      <p:sp>
        <p:nvSpPr>
          <p:cNvPr id="30" name="Text 28"/>
          <p:cNvSpPr/>
          <p:nvPr/>
        </p:nvSpPr>
        <p:spPr>
          <a:xfrm>
            <a:off x="7790688" y="20116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242048" y="2487168"/>
            <a:ext cx="14996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242048" y="2779776"/>
            <a:ext cx="149961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resultado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8640" y="3611880"/>
            <a:ext cx="7818120" cy="2057400"/>
          </a:xfrm>
          <a:prstGeom prst="roundRect">
            <a:avLst>
              <a:gd name="adj" fmla="val 3556"/>
            </a:avLst>
          </a:prstGeom>
          <a:solidFill>
            <a:srgbClr val="F3F8F5"/>
          </a:solidFill>
          <a:ln w="12700">
            <a:solidFill>
              <a:srgbClr val="DCE7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" y="37673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 pantallas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777240" y="4160520"/>
            <a:ext cx="73152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1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del supervisor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2E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verde/amarillo/rojo, rondas vencidas y alertas abiertas.
</a:t>
            </a:r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1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 rondas (móvil)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2E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el cuidador inicia, completa y solicita apoyo.
</a:t>
            </a:r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1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del residente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2E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última y próxima ronda, alertas activas.
</a:t>
            </a:r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1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 de evento y Control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2E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línea de tiempo auditable y escenarios.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9006840" y="1874520"/>
            <a:ext cx="2154326" cy="4173322"/>
          </a:xfrm>
          <a:prstGeom prst="roundRect">
            <a:avLst>
              <a:gd name="adj" fmla="val 10187"/>
            </a:avLst>
          </a:prstGeom>
          <a:solidFill>
            <a:srgbClr val="20302B"/>
          </a:solidFill>
          <a:ln/>
        </p:spPr>
      </p:sp>
      <p:sp>
        <p:nvSpPr>
          <p:cNvPr id="37" name="Shape 35"/>
          <p:cNvSpPr/>
          <p:nvPr/>
        </p:nvSpPr>
        <p:spPr>
          <a:xfrm>
            <a:off x="9125712" y="2048256"/>
            <a:ext cx="1916582" cy="3825850"/>
          </a:xfrm>
          <a:prstGeom prst="roundRect">
            <a:avLst>
              <a:gd name="adj" fmla="val 7634"/>
            </a:avLst>
          </a:prstGeom>
          <a:solidFill>
            <a:srgbClr val="FBFDFC"/>
          </a:solidFill>
          <a:ln/>
        </p:spPr>
      </p:sp>
      <p:sp>
        <p:nvSpPr>
          <p:cNvPr id="38" name="Shape 36"/>
          <p:cNvSpPr/>
          <p:nvPr/>
        </p:nvSpPr>
        <p:spPr>
          <a:xfrm>
            <a:off x="9827971" y="1938528"/>
            <a:ext cx="512064" cy="109728"/>
          </a:xfrm>
          <a:prstGeom prst="roundRect">
            <a:avLst>
              <a:gd name="adj" fmla="val 50000"/>
            </a:avLst>
          </a:prstGeom>
          <a:solidFill>
            <a:srgbClr val="20302B"/>
          </a:solidFill>
          <a:ln/>
        </p:spPr>
      </p:sp>
      <p:sp>
        <p:nvSpPr>
          <p:cNvPr id="39" name="Shape 37"/>
          <p:cNvSpPr/>
          <p:nvPr/>
        </p:nvSpPr>
        <p:spPr>
          <a:xfrm>
            <a:off x="9125712" y="2048256"/>
            <a:ext cx="1916582" cy="566928"/>
          </a:xfrm>
          <a:prstGeom prst="roundRect">
            <a:avLst>
              <a:gd name="adj" fmla="val 22581"/>
            </a:avLst>
          </a:prstGeom>
          <a:solidFill>
            <a:srgbClr val="15321F"/>
          </a:solidFill>
          <a:ln/>
        </p:spPr>
      </p:sp>
      <p:sp>
        <p:nvSpPr>
          <p:cNvPr id="40" name="Shape 38"/>
          <p:cNvSpPr/>
          <p:nvPr/>
        </p:nvSpPr>
        <p:spPr>
          <a:xfrm>
            <a:off x="9125712" y="2368296"/>
            <a:ext cx="1916582" cy="246888"/>
          </a:xfrm>
          <a:prstGeom prst="rect">
            <a:avLst/>
          </a:prstGeom>
          <a:solidFill>
            <a:srgbClr val="15321F"/>
          </a:solidFill>
          <a:ln/>
        </p:spPr>
      </p:sp>
      <p:sp>
        <p:nvSpPr>
          <p:cNvPr id="41" name="Text 39"/>
          <p:cNvSpPr/>
          <p:nvPr/>
        </p:nvSpPr>
        <p:spPr>
          <a:xfrm>
            <a:off x="9272016" y="2139696"/>
            <a:ext cx="162397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· Turno AM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9272016" y="2761488"/>
            <a:ext cx="492557" cy="603504"/>
          </a:xfrm>
          <a:prstGeom prst="roundRect">
            <a:avLst>
              <a:gd name="adj" fmla="val 14851"/>
            </a:avLst>
          </a:prstGeom>
          <a:solidFill>
            <a:srgbClr val="F3F8F5"/>
          </a:solidFill>
          <a:ln w="12700">
            <a:solidFill>
              <a:srgbClr val="DCE7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272016" y="2798064"/>
            <a:ext cx="492557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8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9272016" y="3108960"/>
            <a:ext cx="492557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9837725" y="2761488"/>
            <a:ext cx="492557" cy="603504"/>
          </a:xfrm>
          <a:prstGeom prst="roundRect">
            <a:avLst>
              <a:gd name="adj" fmla="val 14851"/>
            </a:avLst>
          </a:prstGeom>
          <a:solidFill>
            <a:srgbClr val="F3F8F5"/>
          </a:solidFill>
          <a:ln w="12700">
            <a:solidFill>
              <a:srgbClr val="DCE7E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837725" y="2798064"/>
            <a:ext cx="492557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09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9837725" y="3108960"/>
            <a:ext cx="492557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Amar.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10403434" y="2761488"/>
            <a:ext cx="492557" cy="603504"/>
          </a:xfrm>
          <a:prstGeom prst="roundRect">
            <a:avLst>
              <a:gd name="adj" fmla="val 14851"/>
            </a:avLst>
          </a:prstGeom>
          <a:solidFill>
            <a:srgbClr val="F3F8F5"/>
          </a:solidFill>
          <a:ln w="12700">
            <a:solidFill>
              <a:srgbClr val="DCE7E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403434" y="2798064"/>
            <a:ext cx="492557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0403434" y="3108960"/>
            <a:ext cx="492557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Rojo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9272016" y="3474720"/>
            <a:ext cx="162397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Requieren atención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272016" y="3730752"/>
            <a:ext cx="1623974" cy="457200"/>
          </a:xfrm>
          <a:prstGeom prst="roundRect">
            <a:avLst>
              <a:gd name="adj" fmla="val 16000"/>
            </a:avLst>
          </a:prstGeom>
          <a:solidFill>
            <a:srgbClr val="F3F8F5"/>
          </a:solidFill>
          <a:ln w="12700">
            <a:solidFill>
              <a:srgbClr val="DCE7E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363456" y="3849624"/>
            <a:ext cx="219456" cy="219456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54" name="Text 52"/>
          <p:cNvSpPr/>
          <p:nvPr/>
        </p:nvSpPr>
        <p:spPr>
          <a:xfrm>
            <a:off x="9363456" y="3831336"/>
            <a:ext cx="2194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9674352" y="3730752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 15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10118750" y="3730752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vencida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9272016" y="4261104"/>
            <a:ext cx="1623974" cy="457200"/>
          </a:xfrm>
          <a:prstGeom prst="roundRect">
            <a:avLst>
              <a:gd name="adj" fmla="val 16000"/>
            </a:avLst>
          </a:prstGeom>
          <a:solidFill>
            <a:srgbClr val="F3F8F5"/>
          </a:solidFill>
          <a:ln w="12700">
            <a:solidFill>
              <a:srgbClr val="DCE7E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363456" y="4379976"/>
            <a:ext cx="219456" cy="219456"/>
          </a:xfrm>
          <a:prstGeom prst="ellipse">
            <a:avLst/>
          </a:prstGeom>
          <a:solidFill>
            <a:srgbClr val="E0902B"/>
          </a:solidFill>
          <a:ln/>
        </p:spPr>
      </p:sp>
      <p:sp>
        <p:nvSpPr>
          <p:cNvPr id="59" name="Text 57"/>
          <p:cNvSpPr/>
          <p:nvPr/>
        </p:nvSpPr>
        <p:spPr>
          <a:xfrm>
            <a:off x="9363456" y="4361688"/>
            <a:ext cx="2194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9674352" y="4261104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 08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10118750" y="4261104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9272016" y="4791456"/>
            <a:ext cx="1623974" cy="457200"/>
          </a:xfrm>
          <a:prstGeom prst="roundRect">
            <a:avLst>
              <a:gd name="adj" fmla="val 16000"/>
            </a:avLst>
          </a:prstGeom>
          <a:solidFill>
            <a:srgbClr val="F3F8F5"/>
          </a:solidFill>
          <a:ln w="12700">
            <a:solidFill>
              <a:srgbClr val="DCE7E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363456" y="4910328"/>
            <a:ext cx="219456" cy="219456"/>
          </a:xfrm>
          <a:prstGeom prst="ellipse">
            <a:avLst/>
          </a:prstGeom>
          <a:solidFill>
            <a:srgbClr val="1E8E4E"/>
          </a:solidFill>
          <a:ln/>
        </p:spPr>
      </p:sp>
      <p:sp>
        <p:nvSpPr>
          <p:cNvPr id="64" name="Text 62"/>
          <p:cNvSpPr/>
          <p:nvPr/>
        </p:nvSpPr>
        <p:spPr>
          <a:xfrm>
            <a:off x="9363456" y="4892040"/>
            <a:ext cx="2194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9674352" y="4791456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 12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10118750" y="4791456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día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9272016" y="5321808"/>
            <a:ext cx="1623974" cy="457200"/>
          </a:xfrm>
          <a:prstGeom prst="roundRect">
            <a:avLst>
              <a:gd name="adj" fmla="val 16000"/>
            </a:avLst>
          </a:prstGeom>
          <a:solidFill>
            <a:srgbClr val="F3F8F5"/>
          </a:solidFill>
          <a:ln w="12700">
            <a:solidFill>
              <a:srgbClr val="DCE7E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363456" y="5440680"/>
            <a:ext cx="219456" cy="219456"/>
          </a:xfrm>
          <a:prstGeom prst="ellipse">
            <a:avLst/>
          </a:prstGeom>
          <a:solidFill>
            <a:srgbClr val="6B7A72"/>
          </a:solidFill>
          <a:ln/>
        </p:spPr>
      </p:sp>
      <p:sp>
        <p:nvSpPr>
          <p:cNvPr id="69" name="Text 67"/>
          <p:cNvSpPr/>
          <p:nvPr/>
        </p:nvSpPr>
        <p:spPr>
          <a:xfrm>
            <a:off x="9363456" y="5422392"/>
            <a:ext cx="2194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9674352" y="5321808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 20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10118750" y="5321808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CareSignal · Propuesta para su residencia · confidencial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74" name="TextBox 73"/>
          <p:cNvSpPr txBox="1"/>
          <p:nvPr/>
        </p:nvSpPr>
        <p:spPr>
          <a:xfrm rot="16200000">
            <a:off x="8887968" y="3282696"/>
            <a:ext cx="603504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750">
                <a:solidFill>
                  <a:srgbClr val="8A8A8A"/>
                </a:solidFill>
                <a:latin typeface="Calibri"/>
              </a:rPr>
              <a:t>© 2026 Roberto García  ·  CareSignal  ·  linkedin.com/in/robertogarciaits  ·  robertogarciaits@gmail.com  ·  844 588 1313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ASÍ SE 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app en su residencia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188720" y="1554480"/>
            <a:ext cx="2240280" cy="4343400"/>
          </a:xfrm>
          <a:prstGeom prst="roundRect">
            <a:avLst>
              <a:gd name="adj" fmla="val 9796"/>
            </a:avLst>
          </a:prstGeom>
          <a:solidFill>
            <a:srgbClr val="20302B"/>
          </a:solidFill>
          <a:ln/>
        </p:spPr>
      </p:sp>
      <p:sp>
        <p:nvSpPr>
          <p:cNvPr id="5" name="Shape 3"/>
          <p:cNvSpPr/>
          <p:nvPr/>
        </p:nvSpPr>
        <p:spPr>
          <a:xfrm>
            <a:off x="1307592" y="1728216"/>
            <a:ext cx="2002536" cy="3995928"/>
          </a:xfrm>
          <a:prstGeom prst="roundRect">
            <a:avLst>
              <a:gd name="adj" fmla="val 7306"/>
            </a:avLst>
          </a:prstGeom>
          <a:solidFill>
            <a:srgbClr val="FBFDFC"/>
          </a:solidFill>
          <a:ln/>
        </p:spPr>
      </p:sp>
      <p:sp>
        <p:nvSpPr>
          <p:cNvPr id="6" name="Shape 4"/>
          <p:cNvSpPr/>
          <p:nvPr/>
        </p:nvSpPr>
        <p:spPr>
          <a:xfrm>
            <a:off x="2052828" y="1618488"/>
            <a:ext cx="512064" cy="109728"/>
          </a:xfrm>
          <a:prstGeom prst="roundRect">
            <a:avLst>
              <a:gd name="adj" fmla="val 50000"/>
            </a:avLst>
          </a:prstGeom>
          <a:solidFill>
            <a:srgbClr val="20302B"/>
          </a:solidFill>
          <a:ln/>
        </p:spPr>
      </p:sp>
      <p:sp>
        <p:nvSpPr>
          <p:cNvPr id="7" name="Shape 5"/>
          <p:cNvSpPr/>
          <p:nvPr/>
        </p:nvSpPr>
        <p:spPr>
          <a:xfrm>
            <a:off x="1307592" y="1728216"/>
            <a:ext cx="2002536" cy="566928"/>
          </a:xfrm>
          <a:prstGeom prst="roundRect">
            <a:avLst>
              <a:gd name="adj" fmla="val 22581"/>
            </a:avLst>
          </a:prstGeom>
          <a:solidFill>
            <a:srgbClr val="15321F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2048256"/>
            <a:ext cx="2002536" cy="246888"/>
          </a:xfrm>
          <a:prstGeom prst="rect">
            <a:avLst/>
          </a:prstGeom>
          <a:solidFill>
            <a:srgbClr val="15321F"/>
          </a:solidFill>
          <a:ln/>
        </p:spPr>
      </p:sp>
      <p:sp>
        <p:nvSpPr>
          <p:cNvPr id="9" name="Text 7"/>
          <p:cNvSpPr/>
          <p:nvPr/>
        </p:nvSpPr>
        <p:spPr>
          <a:xfrm>
            <a:off x="1453896" y="1819656"/>
            <a:ext cx="1709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· Turno AM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453896" y="2441448"/>
            <a:ext cx="521208" cy="603504"/>
          </a:xfrm>
          <a:prstGeom prst="roundRect">
            <a:avLst>
              <a:gd name="adj" fmla="val 14035"/>
            </a:avLst>
          </a:prstGeom>
          <a:solidFill>
            <a:srgbClr val="F3F8F5"/>
          </a:solidFill>
          <a:ln w="12700">
            <a:solidFill>
              <a:srgbClr val="DCE7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53896" y="2478024"/>
            <a:ext cx="521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8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53896" y="2788920"/>
            <a:ext cx="521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048256" y="2441448"/>
            <a:ext cx="521208" cy="603504"/>
          </a:xfrm>
          <a:prstGeom prst="roundRect">
            <a:avLst>
              <a:gd name="adj" fmla="val 14035"/>
            </a:avLst>
          </a:prstGeom>
          <a:solidFill>
            <a:srgbClr val="F3F8F5"/>
          </a:solidFill>
          <a:ln w="12700">
            <a:solidFill>
              <a:srgbClr val="DCE7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48256" y="2478024"/>
            <a:ext cx="521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09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048256" y="2788920"/>
            <a:ext cx="521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Amar.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642616" y="2441448"/>
            <a:ext cx="521208" cy="603504"/>
          </a:xfrm>
          <a:prstGeom prst="roundRect">
            <a:avLst>
              <a:gd name="adj" fmla="val 14035"/>
            </a:avLst>
          </a:prstGeom>
          <a:solidFill>
            <a:srgbClr val="F3F8F5"/>
          </a:solidFill>
          <a:ln w="12700">
            <a:solidFill>
              <a:srgbClr val="DCE7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42616" y="2478024"/>
            <a:ext cx="521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642616" y="2788920"/>
            <a:ext cx="5212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Rojo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453896" y="3154680"/>
            <a:ext cx="1709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Requieren atención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453896" y="3410712"/>
            <a:ext cx="1709928" cy="457200"/>
          </a:xfrm>
          <a:prstGeom prst="roundRect">
            <a:avLst>
              <a:gd name="adj" fmla="val 16000"/>
            </a:avLst>
          </a:prstGeom>
          <a:solidFill>
            <a:srgbClr val="F3F8F5"/>
          </a:solidFill>
          <a:ln w="12700">
            <a:solidFill>
              <a:srgbClr val="DCE7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45336" y="3529584"/>
            <a:ext cx="219456" cy="219456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22" name="Text 20"/>
          <p:cNvSpPr/>
          <p:nvPr/>
        </p:nvSpPr>
        <p:spPr>
          <a:xfrm>
            <a:off x="1545336" y="3511296"/>
            <a:ext cx="2194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856232" y="3410712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 15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386584" y="3410712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vencida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453896" y="3941064"/>
            <a:ext cx="1709928" cy="457200"/>
          </a:xfrm>
          <a:prstGeom prst="roundRect">
            <a:avLst>
              <a:gd name="adj" fmla="val 16000"/>
            </a:avLst>
          </a:prstGeom>
          <a:solidFill>
            <a:srgbClr val="F3F8F5"/>
          </a:solidFill>
          <a:ln w="12700">
            <a:solidFill>
              <a:srgbClr val="DCE7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545336" y="4059936"/>
            <a:ext cx="219456" cy="219456"/>
          </a:xfrm>
          <a:prstGeom prst="ellipse">
            <a:avLst/>
          </a:prstGeom>
          <a:solidFill>
            <a:srgbClr val="E0902B"/>
          </a:solidFill>
          <a:ln/>
        </p:spPr>
      </p:sp>
      <p:sp>
        <p:nvSpPr>
          <p:cNvPr id="27" name="Text 25"/>
          <p:cNvSpPr/>
          <p:nvPr/>
        </p:nvSpPr>
        <p:spPr>
          <a:xfrm>
            <a:off x="1545336" y="4041648"/>
            <a:ext cx="2194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856232" y="3941064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 08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386584" y="3941064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453896" y="4471416"/>
            <a:ext cx="1709928" cy="457200"/>
          </a:xfrm>
          <a:prstGeom prst="roundRect">
            <a:avLst>
              <a:gd name="adj" fmla="val 16000"/>
            </a:avLst>
          </a:prstGeom>
          <a:solidFill>
            <a:srgbClr val="F3F8F5"/>
          </a:solidFill>
          <a:ln w="12700">
            <a:solidFill>
              <a:srgbClr val="DCE7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545336" y="4590288"/>
            <a:ext cx="219456" cy="219456"/>
          </a:xfrm>
          <a:prstGeom prst="ellipse">
            <a:avLst/>
          </a:prstGeom>
          <a:solidFill>
            <a:srgbClr val="1E8E4E"/>
          </a:solidFill>
          <a:ln/>
        </p:spPr>
      </p:sp>
      <p:sp>
        <p:nvSpPr>
          <p:cNvPr id="32" name="Text 30"/>
          <p:cNvSpPr/>
          <p:nvPr/>
        </p:nvSpPr>
        <p:spPr>
          <a:xfrm>
            <a:off x="1545336" y="4572000"/>
            <a:ext cx="2194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856232" y="4471416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 12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386584" y="4471416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día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1453896" y="5001768"/>
            <a:ext cx="1709928" cy="457200"/>
          </a:xfrm>
          <a:prstGeom prst="roundRect">
            <a:avLst>
              <a:gd name="adj" fmla="val 16000"/>
            </a:avLst>
          </a:prstGeom>
          <a:solidFill>
            <a:srgbClr val="F3F8F5"/>
          </a:solidFill>
          <a:ln w="12700">
            <a:solidFill>
              <a:srgbClr val="DCE7E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545336" y="5120640"/>
            <a:ext cx="219456" cy="219456"/>
          </a:xfrm>
          <a:prstGeom prst="ellipse">
            <a:avLst/>
          </a:prstGeom>
          <a:solidFill>
            <a:srgbClr val="6B7A72"/>
          </a:solidFill>
          <a:ln/>
        </p:spPr>
      </p:sp>
      <p:sp>
        <p:nvSpPr>
          <p:cNvPr id="37" name="Text 35"/>
          <p:cNvSpPr/>
          <p:nvPr/>
        </p:nvSpPr>
        <p:spPr>
          <a:xfrm>
            <a:off x="1545336" y="5102352"/>
            <a:ext cx="2194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856232" y="5001768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 20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386584" y="5001768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983480" y="1554480"/>
            <a:ext cx="2240280" cy="4343400"/>
          </a:xfrm>
          <a:prstGeom prst="roundRect">
            <a:avLst>
              <a:gd name="adj" fmla="val 9796"/>
            </a:avLst>
          </a:prstGeom>
          <a:solidFill>
            <a:srgbClr val="20302B"/>
          </a:solidFill>
          <a:ln/>
        </p:spPr>
      </p:sp>
      <p:sp>
        <p:nvSpPr>
          <p:cNvPr id="41" name="Shape 39"/>
          <p:cNvSpPr/>
          <p:nvPr/>
        </p:nvSpPr>
        <p:spPr>
          <a:xfrm>
            <a:off x="5102352" y="1728216"/>
            <a:ext cx="2002536" cy="3995928"/>
          </a:xfrm>
          <a:prstGeom prst="roundRect">
            <a:avLst>
              <a:gd name="adj" fmla="val 7306"/>
            </a:avLst>
          </a:prstGeom>
          <a:solidFill>
            <a:srgbClr val="FBFDFC"/>
          </a:solidFill>
          <a:ln/>
        </p:spPr>
      </p:sp>
      <p:sp>
        <p:nvSpPr>
          <p:cNvPr id="42" name="Shape 40"/>
          <p:cNvSpPr/>
          <p:nvPr/>
        </p:nvSpPr>
        <p:spPr>
          <a:xfrm>
            <a:off x="5847588" y="1618488"/>
            <a:ext cx="512064" cy="109728"/>
          </a:xfrm>
          <a:prstGeom prst="roundRect">
            <a:avLst>
              <a:gd name="adj" fmla="val 50000"/>
            </a:avLst>
          </a:prstGeom>
          <a:solidFill>
            <a:srgbClr val="20302B"/>
          </a:solidFill>
          <a:ln/>
        </p:spPr>
      </p:sp>
      <p:sp>
        <p:nvSpPr>
          <p:cNvPr id="43" name="Shape 41"/>
          <p:cNvSpPr/>
          <p:nvPr/>
        </p:nvSpPr>
        <p:spPr>
          <a:xfrm>
            <a:off x="5102352" y="1728216"/>
            <a:ext cx="2002536" cy="566928"/>
          </a:xfrm>
          <a:prstGeom prst="roundRect">
            <a:avLst>
              <a:gd name="adj" fmla="val 22581"/>
            </a:avLst>
          </a:prstGeom>
          <a:solidFill>
            <a:srgbClr val="1E8E4E"/>
          </a:solidFill>
          <a:ln/>
        </p:spPr>
      </p:sp>
      <p:sp>
        <p:nvSpPr>
          <p:cNvPr id="44" name="Shape 42"/>
          <p:cNvSpPr/>
          <p:nvPr/>
        </p:nvSpPr>
        <p:spPr>
          <a:xfrm>
            <a:off x="5102352" y="2048256"/>
            <a:ext cx="2002536" cy="246888"/>
          </a:xfrm>
          <a:prstGeom prst="rect">
            <a:avLst/>
          </a:prstGeom>
          <a:solidFill>
            <a:srgbClr val="1E8E4E"/>
          </a:solidFill>
          <a:ln/>
        </p:spPr>
      </p:sp>
      <p:sp>
        <p:nvSpPr>
          <p:cNvPr id="45" name="Text 43"/>
          <p:cNvSpPr/>
          <p:nvPr/>
        </p:nvSpPr>
        <p:spPr>
          <a:xfrm>
            <a:off x="5248656" y="1819656"/>
            <a:ext cx="1709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 rondas · Turno AM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248656" y="2459736"/>
            <a:ext cx="1709928" cy="457200"/>
          </a:xfrm>
          <a:prstGeom prst="roundRect">
            <a:avLst>
              <a:gd name="adj" fmla="val 16000"/>
            </a:avLst>
          </a:prstGeom>
          <a:solidFill>
            <a:srgbClr val="F3F8F5"/>
          </a:solidFill>
          <a:ln w="12700">
            <a:solidFill>
              <a:srgbClr val="DCE7E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340096" y="2578608"/>
            <a:ext cx="219456" cy="219456"/>
          </a:xfrm>
          <a:prstGeom prst="ellipse">
            <a:avLst/>
          </a:prstGeom>
          <a:solidFill>
            <a:srgbClr val="1E8E4E"/>
          </a:solidFill>
          <a:ln/>
        </p:spPr>
      </p:sp>
      <p:sp>
        <p:nvSpPr>
          <p:cNvPr id="48" name="Text 46"/>
          <p:cNvSpPr/>
          <p:nvPr/>
        </p:nvSpPr>
        <p:spPr>
          <a:xfrm>
            <a:off x="5340096" y="2560320"/>
            <a:ext cx="2194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650992" y="2459736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Hidratación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181344" y="2459736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 12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5248656" y="2990088"/>
            <a:ext cx="1709928" cy="457200"/>
          </a:xfrm>
          <a:prstGeom prst="roundRect">
            <a:avLst>
              <a:gd name="adj" fmla="val 16000"/>
            </a:avLst>
          </a:prstGeom>
          <a:solidFill>
            <a:srgbClr val="F3F8F5"/>
          </a:solidFill>
          <a:ln w="12700">
            <a:solidFill>
              <a:srgbClr val="DCE7E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340096" y="3108960"/>
            <a:ext cx="219456" cy="219456"/>
          </a:xfrm>
          <a:prstGeom prst="ellipse">
            <a:avLst/>
          </a:prstGeom>
          <a:solidFill>
            <a:srgbClr val="E0902B"/>
          </a:solidFill>
          <a:ln/>
        </p:spPr>
      </p:sp>
      <p:sp>
        <p:nvSpPr>
          <p:cNvPr id="53" name="Text 51"/>
          <p:cNvSpPr/>
          <p:nvPr/>
        </p:nvSpPr>
        <p:spPr>
          <a:xfrm>
            <a:off x="5340096" y="3090672"/>
            <a:ext cx="2194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650992" y="2990088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Movilidad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181344" y="2990088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 08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5248656" y="3520440"/>
            <a:ext cx="1709928" cy="457200"/>
          </a:xfrm>
          <a:prstGeom prst="roundRect">
            <a:avLst>
              <a:gd name="adj" fmla="val 16000"/>
            </a:avLst>
          </a:prstGeom>
          <a:solidFill>
            <a:srgbClr val="F3F8F5"/>
          </a:solidFill>
          <a:ln w="12700">
            <a:solidFill>
              <a:srgbClr val="DCE7E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340096" y="3639312"/>
            <a:ext cx="219456" cy="219456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58" name="Text 56"/>
          <p:cNvSpPr/>
          <p:nvPr/>
        </p:nvSpPr>
        <p:spPr>
          <a:xfrm>
            <a:off x="5340096" y="3621024"/>
            <a:ext cx="2194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650992" y="3520440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Rutina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6181344" y="3520440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 15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5248656" y="4050792"/>
            <a:ext cx="1709928" cy="457200"/>
          </a:xfrm>
          <a:prstGeom prst="roundRect">
            <a:avLst>
              <a:gd name="adj" fmla="val 16000"/>
            </a:avLst>
          </a:prstGeom>
          <a:solidFill>
            <a:srgbClr val="F3F8F5"/>
          </a:solidFill>
          <a:ln w="12700">
            <a:solidFill>
              <a:srgbClr val="DCE7E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340096" y="4169664"/>
            <a:ext cx="219456" cy="219456"/>
          </a:xfrm>
          <a:prstGeom prst="ellipse">
            <a:avLst/>
          </a:prstGeom>
          <a:solidFill>
            <a:srgbClr val="6B7A72"/>
          </a:solidFill>
          <a:ln/>
        </p:spPr>
      </p:sp>
      <p:sp>
        <p:nvSpPr>
          <p:cNvPr id="63" name="Text 61"/>
          <p:cNvSpPr/>
          <p:nvPr/>
        </p:nvSpPr>
        <p:spPr>
          <a:xfrm>
            <a:off x="5340096" y="4151376"/>
            <a:ext cx="2194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5650992" y="4050792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Comida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6181344" y="4050792"/>
            <a:ext cx="713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 20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5248656" y="4654296"/>
            <a:ext cx="1709928" cy="457200"/>
          </a:xfrm>
          <a:prstGeom prst="roundRect">
            <a:avLst>
              <a:gd name="adj" fmla="val 20000"/>
            </a:avLst>
          </a:prstGeom>
          <a:solidFill>
            <a:srgbClr val="1E8E4E"/>
          </a:solidFill>
          <a:ln/>
        </p:spPr>
      </p:sp>
      <p:sp>
        <p:nvSpPr>
          <p:cNvPr id="67" name="Text 65"/>
          <p:cNvSpPr/>
          <p:nvPr/>
        </p:nvSpPr>
        <p:spPr>
          <a:xfrm>
            <a:off x="5248656" y="4654296"/>
            <a:ext cx="1709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 ronda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5248656" y="5184648"/>
            <a:ext cx="1709928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2700">
            <a:solidFill>
              <a:srgbClr val="DCE7E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248656" y="5184648"/>
            <a:ext cx="1709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09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Solicitar apoyo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8778240" y="1554480"/>
            <a:ext cx="2240280" cy="4343400"/>
          </a:xfrm>
          <a:prstGeom prst="roundRect">
            <a:avLst>
              <a:gd name="adj" fmla="val 9796"/>
            </a:avLst>
          </a:prstGeom>
          <a:solidFill>
            <a:srgbClr val="20302B"/>
          </a:solidFill>
          <a:ln/>
        </p:spPr>
      </p:sp>
      <p:sp>
        <p:nvSpPr>
          <p:cNvPr id="71" name="Shape 69"/>
          <p:cNvSpPr/>
          <p:nvPr/>
        </p:nvSpPr>
        <p:spPr>
          <a:xfrm>
            <a:off x="8897112" y="1728216"/>
            <a:ext cx="2002536" cy="3995928"/>
          </a:xfrm>
          <a:prstGeom prst="roundRect">
            <a:avLst>
              <a:gd name="adj" fmla="val 7306"/>
            </a:avLst>
          </a:prstGeom>
          <a:solidFill>
            <a:srgbClr val="FBFDFC"/>
          </a:solidFill>
          <a:ln/>
        </p:spPr>
      </p:sp>
      <p:sp>
        <p:nvSpPr>
          <p:cNvPr id="72" name="Shape 70"/>
          <p:cNvSpPr/>
          <p:nvPr/>
        </p:nvSpPr>
        <p:spPr>
          <a:xfrm>
            <a:off x="9642348" y="1618488"/>
            <a:ext cx="512064" cy="109728"/>
          </a:xfrm>
          <a:prstGeom prst="roundRect">
            <a:avLst>
              <a:gd name="adj" fmla="val 50000"/>
            </a:avLst>
          </a:prstGeom>
          <a:solidFill>
            <a:srgbClr val="20302B"/>
          </a:solidFill>
          <a:ln/>
        </p:spPr>
      </p:sp>
      <p:sp>
        <p:nvSpPr>
          <p:cNvPr id="73" name="Shape 71"/>
          <p:cNvSpPr/>
          <p:nvPr/>
        </p:nvSpPr>
        <p:spPr>
          <a:xfrm>
            <a:off x="8897112" y="1728216"/>
            <a:ext cx="2002536" cy="566928"/>
          </a:xfrm>
          <a:prstGeom prst="roundRect">
            <a:avLst>
              <a:gd name="adj" fmla="val 22581"/>
            </a:avLst>
          </a:prstGeom>
          <a:solidFill>
            <a:srgbClr val="D64545"/>
          </a:solidFill>
          <a:ln/>
        </p:spPr>
      </p:sp>
      <p:sp>
        <p:nvSpPr>
          <p:cNvPr id="74" name="Shape 72"/>
          <p:cNvSpPr/>
          <p:nvPr/>
        </p:nvSpPr>
        <p:spPr>
          <a:xfrm>
            <a:off x="8897112" y="2048256"/>
            <a:ext cx="2002536" cy="246888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75" name="Text 73"/>
          <p:cNvSpPr/>
          <p:nvPr/>
        </p:nvSpPr>
        <p:spPr>
          <a:xfrm>
            <a:off x="9043416" y="1819656"/>
            <a:ext cx="1709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Evento a verificar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9043416" y="2478024"/>
            <a:ext cx="1709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Ronda vencida · Hab 15</a:t>
            </a:r>
            <a:endParaRPr lang="en-US" sz="1250" dirty="0"/>
          </a:p>
        </p:txBody>
      </p:sp>
      <p:sp>
        <p:nvSpPr>
          <p:cNvPr id="77" name="Text 75"/>
          <p:cNvSpPr/>
          <p:nvPr/>
        </p:nvSpPr>
        <p:spPr>
          <a:xfrm>
            <a:off x="9043416" y="2752344"/>
            <a:ext cx="1709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Sr. R.  ·  severidad Roja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9043416" y="3099816"/>
            <a:ext cx="1709928" cy="960120"/>
          </a:xfrm>
          <a:prstGeom prst="roundRect">
            <a:avLst>
              <a:gd name="adj" fmla="val 7619"/>
            </a:avLst>
          </a:prstGeom>
          <a:solidFill>
            <a:srgbClr val="F3F8F5"/>
          </a:solidFill>
          <a:ln w="12700">
            <a:solidFill>
              <a:srgbClr val="DCE7E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9153144" y="3172968"/>
            <a:ext cx="14904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10:00  Ronda programada
</a:t>
            </a:r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10:15  Vencida → alerta roja
</a:t>
            </a:r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1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10:16  Sin responsable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9043416" y="4215384"/>
            <a:ext cx="1709928" cy="457200"/>
          </a:xfrm>
          <a:prstGeom prst="roundRect">
            <a:avLst>
              <a:gd name="adj" fmla="val 20000"/>
            </a:avLst>
          </a:prstGeom>
          <a:solidFill>
            <a:srgbClr val="0E9E8F"/>
          </a:solidFill>
          <a:ln/>
        </p:spPr>
      </p:sp>
      <p:sp>
        <p:nvSpPr>
          <p:cNvPr id="81" name="Text 79"/>
          <p:cNvSpPr/>
          <p:nvPr/>
        </p:nvSpPr>
        <p:spPr>
          <a:xfrm>
            <a:off x="9043416" y="4215384"/>
            <a:ext cx="1709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Asignar cuidador</a:t>
            </a:r>
            <a:endParaRPr lang="en-US" sz="1150" dirty="0"/>
          </a:p>
        </p:txBody>
      </p:sp>
      <p:sp>
        <p:nvSpPr>
          <p:cNvPr id="82" name="Shape 80"/>
          <p:cNvSpPr/>
          <p:nvPr/>
        </p:nvSpPr>
        <p:spPr>
          <a:xfrm>
            <a:off x="9043416" y="4745736"/>
            <a:ext cx="1709928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9043416" y="4745736"/>
            <a:ext cx="1709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Escalar a supervisor</a:t>
            </a:r>
            <a:endParaRPr lang="en-US" sz="1100" dirty="0"/>
          </a:p>
        </p:txBody>
      </p:sp>
      <p:sp>
        <p:nvSpPr>
          <p:cNvPr id="84" name="Text 82"/>
          <p:cNvSpPr/>
          <p:nvPr/>
        </p:nvSpPr>
        <p:spPr>
          <a:xfrm>
            <a:off x="1005840" y="5806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del supervisor</a:t>
            </a:r>
            <a:endParaRPr lang="en-US" sz="1300" dirty="0"/>
          </a:p>
        </p:txBody>
      </p:sp>
      <p:sp>
        <p:nvSpPr>
          <p:cNvPr id="85" name="Text 83"/>
          <p:cNvSpPr/>
          <p:nvPr/>
        </p:nvSpPr>
        <p:spPr>
          <a:xfrm>
            <a:off x="868680" y="6089904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 residentes, rondas vencidas y alertas.</a:t>
            </a:r>
            <a:endParaRPr lang="en-US" sz="1050" dirty="0"/>
          </a:p>
        </p:txBody>
      </p:sp>
      <p:sp>
        <p:nvSpPr>
          <p:cNvPr id="86" name="Text 84"/>
          <p:cNvSpPr/>
          <p:nvPr/>
        </p:nvSpPr>
        <p:spPr>
          <a:xfrm>
            <a:off x="4800600" y="5806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 rondas (cuidador)</a:t>
            </a:r>
            <a:endParaRPr lang="en-US" sz="1300" dirty="0"/>
          </a:p>
        </p:txBody>
      </p:sp>
      <p:sp>
        <p:nvSpPr>
          <p:cNvPr id="87" name="Text 85"/>
          <p:cNvSpPr/>
          <p:nvPr/>
        </p:nvSpPr>
        <p:spPr>
          <a:xfrm>
            <a:off x="4663440" y="6089904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Inicia, completa y solicita apoyo desde el móvil.</a:t>
            </a:r>
            <a:endParaRPr lang="en-US" sz="1050" dirty="0"/>
          </a:p>
        </p:txBody>
      </p:sp>
      <p:sp>
        <p:nvSpPr>
          <p:cNvPr id="88" name="Text 86"/>
          <p:cNvSpPr/>
          <p:nvPr/>
        </p:nvSpPr>
        <p:spPr>
          <a:xfrm>
            <a:off x="8595360" y="5806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 a verificar</a:t>
            </a:r>
            <a:endParaRPr lang="en-US" sz="1300" dirty="0"/>
          </a:p>
        </p:txBody>
      </p:sp>
      <p:sp>
        <p:nvSpPr>
          <p:cNvPr id="89" name="Text 87"/>
          <p:cNvSpPr/>
          <p:nvPr/>
        </p:nvSpPr>
        <p:spPr>
          <a:xfrm>
            <a:off x="8458200" y="6089904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 o escala, con línea de tiempo auditable.</a:t>
            </a:r>
            <a:endParaRPr lang="en-US" sz="1050" dirty="0"/>
          </a:p>
        </p:txBody>
      </p:sp>
      <p:sp>
        <p:nvSpPr>
          <p:cNvPr id="90" name="Text 88"/>
          <p:cNvSpPr/>
          <p:nvPr/>
        </p:nvSpPr>
        <p:spPr>
          <a:xfrm>
            <a:off x="9144000" y="4572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Mockups ilustrativos · datos ficticios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92" name="TextBox 91"/>
          <p:cNvSpPr txBox="1"/>
          <p:nvPr/>
        </p:nvSpPr>
        <p:spPr>
          <a:xfrm rot="16200000">
            <a:off x="8887968" y="3282696"/>
            <a:ext cx="603504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750">
                <a:solidFill>
                  <a:srgbClr val="8A8A8A"/>
                </a:solidFill>
                <a:latin typeface="Calibri"/>
              </a:rPr>
              <a:t>© 2026 Roberto García  ·  CareSignal  ·  linkedin.com/in/robertogarciaits  ·  robertogarciaits@gmail.com  ·  844 588 1313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gana su residencia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5440680" cy="1325880"/>
          </a:xfrm>
          <a:prstGeom prst="roundRect">
            <a:avLst>
              <a:gd name="adj" fmla="val 5517"/>
            </a:avLst>
          </a:prstGeom>
          <a:solidFill>
            <a:srgbClr val="F3F8F5"/>
          </a:solidFill>
          <a:ln w="12700">
            <a:solidFill>
              <a:srgbClr val="DCE7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7373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8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Omisiones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22960" y="2231136"/>
            <a:ext cx="4983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rondas omitidas: cada pendiente es visible y con responsable.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572768"/>
            <a:ext cx="5440680" cy="1325880"/>
          </a:xfrm>
          <a:prstGeom prst="roundRect">
            <a:avLst>
              <a:gd name="adj" fmla="val 5517"/>
            </a:avLst>
          </a:prstGeom>
          <a:solidFill>
            <a:srgbClr val="F3F8F5"/>
          </a:solidFill>
          <a:ln w="12700">
            <a:solidFill>
              <a:srgbClr val="DCE7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28232" y="17373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Tiempo de respuesta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446520" y="2231136"/>
            <a:ext cx="4983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y escalamiento automáticos aceleran la reacción.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054096"/>
            <a:ext cx="5440680" cy="1325880"/>
          </a:xfrm>
          <a:prstGeom prst="roundRect">
            <a:avLst>
              <a:gd name="adj" fmla="val 5517"/>
            </a:avLst>
          </a:prstGeom>
          <a:solidFill>
            <a:srgbClr val="F3F8F5"/>
          </a:solidFill>
          <a:ln w="12700">
            <a:solidFill>
              <a:srgbClr val="DCE7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321868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6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trazable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22960" y="3712464"/>
            <a:ext cx="4983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horaria ante familias, dirección y auditorías.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72200" y="3054096"/>
            <a:ext cx="5440680" cy="1325880"/>
          </a:xfrm>
          <a:prstGeom prst="roundRect">
            <a:avLst>
              <a:gd name="adj" fmla="val 5517"/>
            </a:avLst>
          </a:prstGeom>
          <a:solidFill>
            <a:srgbClr val="F3F8F5"/>
          </a:solidFill>
          <a:ln w="12700">
            <a:solidFill>
              <a:srgbClr val="DCE7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28232" y="321868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09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Carga admin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446520" y="3712464"/>
            <a:ext cx="4983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E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supervisor deja de reconstruir; la bitácora ya está lista.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61772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E7F4EC"/>
          </a:solidFill>
          <a:ln w="12700">
            <a:solidFill>
              <a:srgbClr val="DCE7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61772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E8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del piloto.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E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Medimos juntos, en 30 días: % de rondas cumplidas a tiempo, tiempo medio de respuesta y nº de alertas resueltas con evidencia. </a:t>
            </a:r>
            <a:pPr indent="0" marL="0">
              <a:lnSpc>
                <a:spcPct val="110000"/>
              </a:lnSpc>
              <a:buNone/>
            </a:pPr>
            <a:r>
              <a:rPr lang="en-US" sz="1250" i="1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[Complete con las metas acordadas con la residencia.]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CareSignal · Propuesta para su residencia · confidencial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20" name="TextBox 19"/>
          <p:cNvSpPr txBox="1"/>
          <p:nvPr/>
        </p:nvSpPr>
        <p:spPr>
          <a:xfrm rot="16200000">
            <a:off x="8887968" y="3282696"/>
            <a:ext cx="603504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750">
                <a:solidFill>
                  <a:srgbClr val="8A8A8A"/>
                </a:solidFill>
                <a:latin typeface="Calibri"/>
              </a:rPr>
              <a:t>© 2026 Roberto García  ·  CareSignal  ·  linkedin.com/in/robertogarciaits  ·  robertogarciaits@gmail.com  ·  844 588 1313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que puede ver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40680" cy="4114800"/>
          </a:xfrm>
          <a:prstGeom prst="roundRect">
            <a:avLst>
              <a:gd name="adj" fmla="val 1778"/>
            </a:avLst>
          </a:prstGeom>
          <a:solidFill>
            <a:srgbClr val="F3F8F5"/>
          </a:solidFill>
          <a:ln w="12700">
            <a:solidFill>
              <a:srgbClr val="DCE7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3736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50292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E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Rondas en papel y avisos por WhatsApp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E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sin responsable claro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E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evidencia horaria ante familias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E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reconstruidos a mano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1554480"/>
            <a:ext cx="5468112" cy="4114800"/>
          </a:xfrm>
          <a:prstGeom prst="roundRect">
            <a:avLst>
              <a:gd name="adj" fmla="val 1778"/>
            </a:avLst>
          </a:prstGeom>
          <a:solidFill>
            <a:srgbClr val="E7F4EC"/>
          </a:solidFill>
          <a:ln w="12700">
            <a:solidFill>
              <a:srgbClr val="DCE7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7373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8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 (con CareSignal)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92240" y="2240280"/>
            <a:ext cx="50292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E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 en vivo de rondas y alertas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E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alerta con dueño y escalamiento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E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Bitácora auditable por residente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E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listos, sin trabajo manual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[Inserte aquí el testimonio del director/supervisor y las cifras de su residencia piloto — es el argumento que más convence.]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CareSignal · Propuesta para su residencia · confidencial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13" name="TextBox 12"/>
          <p:cNvSpPr txBox="1"/>
          <p:nvPr/>
        </p:nvSpPr>
        <p:spPr>
          <a:xfrm rot="16200000">
            <a:off x="8887968" y="3282696"/>
            <a:ext cx="603504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750">
                <a:solidFill>
                  <a:srgbClr val="8A8A8A"/>
                </a:solidFill>
                <a:latin typeface="Calibri"/>
              </a:rPr>
              <a:t>© 2026 Roberto García  ·  CareSignal  ·  linkedin.com/in/robertogarciaits  ·  robertogarciaits@gmail.com  ·  844 588 1313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6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Y CUMPLIMIENTO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 datos, bajo control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F3F8F5"/>
          </a:solidFill>
          <a:ln w="12700">
            <a:solidFill>
              <a:srgbClr val="DCE7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9202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A6BD4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901952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bajo su control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17320" y="2331720"/>
            <a:ext cx="4434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E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operativa de su residencia; sin datos clínicos ni diagnósticos.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64592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F3F8F5"/>
          </a:solidFill>
          <a:ln w="12700">
            <a:solidFill>
              <a:srgbClr val="DCE7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28232" y="19202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A6BD4"/>
          </a:solidFill>
          <a:ln/>
        </p:spPr>
      </p:sp>
      <p:sp>
        <p:nvSpPr>
          <p:cNvPr id="11" name="Text 9"/>
          <p:cNvSpPr/>
          <p:nvPr/>
        </p:nvSpPr>
        <p:spPr>
          <a:xfrm>
            <a:off x="6428232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040880" y="1901952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Bitácora inalterable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040880" y="2331720"/>
            <a:ext cx="4434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E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append-only: los registros no se editan ni se borran desde la app.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56616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F3F8F5"/>
          </a:solidFill>
          <a:ln w="12700">
            <a:solidFill>
              <a:srgbClr val="DCE7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" y="38404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A6BD4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3840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17320" y="3822192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riesgo médico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17320" y="4251960"/>
            <a:ext cx="4434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E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dispositivo médico; no toma decisiones clínicas por su equipo.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356616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F3F8F5"/>
          </a:solidFill>
          <a:ln w="12700">
            <a:solidFill>
              <a:srgbClr val="DCE7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28232" y="38404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A6BD4"/>
          </a:solidFill>
          <a:ln/>
        </p:spPr>
      </p:sp>
      <p:sp>
        <p:nvSpPr>
          <p:cNvPr id="21" name="Text 19"/>
          <p:cNvSpPr/>
          <p:nvPr/>
        </p:nvSpPr>
        <p:spPr>
          <a:xfrm>
            <a:off x="6428232" y="3840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040880" y="3822192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Origen en seguridad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040880" y="4251960"/>
            <a:ext cx="4434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E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Desarrollado con enfoque de privacidad y trazabilidad (WomenCISO · Google Cloud).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58521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[Ajuste según requisitos de protección de datos aplicables a su institución.]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CareSignal · Propuesta para su residencia · confidencial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27" name="TextBox 26"/>
          <p:cNvSpPr txBox="1"/>
          <p:nvPr/>
        </p:nvSpPr>
        <p:spPr>
          <a:xfrm rot="16200000">
            <a:off x="8887968" y="3282696"/>
            <a:ext cx="603504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750">
                <a:solidFill>
                  <a:srgbClr val="8A8A8A"/>
                </a:solidFill>
                <a:latin typeface="Calibri"/>
              </a:rPr>
              <a:t>© 2026 Roberto García  ·  CareSignal  ·  linkedin.com/in/robertogarciaits  ·  robertogarciaits@gmail.com  ·  844 588 1313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simple, sin sorpresas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66160" cy="3657600"/>
          </a:xfrm>
          <a:prstGeom prst="roundRect">
            <a:avLst>
              <a:gd name="adj" fmla="val 2051"/>
            </a:avLst>
          </a:prstGeom>
          <a:solidFill>
            <a:srgbClr val="F3F8F5"/>
          </a:solidFill>
          <a:ln w="12700">
            <a:solidFill>
              <a:srgbClr val="DCE7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745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Esencial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8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[precio] / mes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41248" y="2926080"/>
            <a:ext cx="30632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E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Rondas y alertas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E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del supervisor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E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Bitácora auditable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E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[N] residentes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15968" y="1645920"/>
            <a:ext cx="3566160" cy="3657600"/>
          </a:xfrm>
          <a:prstGeom prst="roundRect">
            <a:avLst>
              <a:gd name="adj" fmla="val 2051"/>
            </a:avLst>
          </a:prstGeom>
          <a:solidFill>
            <a:srgbClr val="15321F"/>
          </a:solidFill>
          <a:ln w="12700">
            <a:solidFill>
              <a:srgbClr val="15321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76088" y="1417320"/>
            <a:ext cx="1645920" cy="384048"/>
          </a:xfrm>
          <a:prstGeom prst="roundRect">
            <a:avLst>
              <a:gd name="adj" fmla="val 23810"/>
            </a:avLst>
          </a:prstGeom>
          <a:solidFill>
            <a:srgbClr val="1E8E4E"/>
          </a:solidFill>
          <a:ln/>
        </p:spPr>
      </p:sp>
      <p:sp>
        <p:nvSpPr>
          <p:cNvPr id="10" name="Text 8"/>
          <p:cNvSpPr/>
          <p:nvPr/>
        </p:nvSpPr>
        <p:spPr>
          <a:xfrm>
            <a:off x="5276088" y="141732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RECOMENDADO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90288" y="18745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Profesional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90288" y="23317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E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[precio] / mes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08576" y="2926080"/>
            <a:ext cx="30632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7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de Esencial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7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de turno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7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y métricas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7E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prioritario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83296" y="1645920"/>
            <a:ext cx="3566160" cy="3657600"/>
          </a:xfrm>
          <a:prstGeom prst="roundRect">
            <a:avLst>
              <a:gd name="adj" fmla="val 2051"/>
            </a:avLst>
          </a:prstGeom>
          <a:solidFill>
            <a:srgbClr val="F3F8F5"/>
          </a:solidFill>
          <a:ln w="12700">
            <a:solidFill>
              <a:srgbClr val="DCE7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57616" y="18745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Institucional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357616" y="23317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8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 cotizar]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75904" y="2926080"/>
            <a:ext cx="30632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E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Multi-residencia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E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dedicado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E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Integraciones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E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Acuerdo de nivel de servicio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55321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por residencia o por plaza (nº de residentes). Sin costo de hardware ni instalación.  [Complete los montos según su lista de precios.]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CareSignal · Propuesta para su residencia · confidencial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21" name="TextBox 20"/>
          <p:cNvSpPr txBox="1"/>
          <p:nvPr/>
        </p:nvSpPr>
        <p:spPr>
          <a:xfrm rot="16200000">
            <a:off x="8887968" y="3282696"/>
            <a:ext cx="603504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750">
                <a:solidFill>
                  <a:srgbClr val="8A8A8A"/>
                </a:solidFill>
                <a:latin typeface="Calibri"/>
              </a:rPr>
              <a:t>© 2026 Roberto García  ·  CareSignal  ·  linkedin.com/in/robertogarciaits  ·  robertogarciaits@gmail.com  ·  844 588 1313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marcha en días, no meses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97480" cy="3108960"/>
          </a:xfrm>
          <a:prstGeom prst="roundRect">
            <a:avLst>
              <a:gd name="adj" fmla="val 2712"/>
            </a:avLst>
          </a:prstGeom>
          <a:solidFill>
            <a:srgbClr val="F3F8F5"/>
          </a:solidFill>
          <a:ln w="12700">
            <a:solidFill>
              <a:srgbClr val="DCE7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65960"/>
            <a:ext cx="2240280" cy="384048"/>
          </a:xfrm>
          <a:prstGeom prst="roundRect">
            <a:avLst>
              <a:gd name="adj" fmla="val 23810"/>
            </a:avLst>
          </a:prstGeom>
          <a:solidFill>
            <a:srgbClr val="0E9E8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6596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1–2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51460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5528" y="2971800"/>
            <a:ext cx="22402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E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Damos de alta su residencia, residentes y personal; definimos las rondas.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27832" y="1737360"/>
            <a:ext cx="164592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A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355848" y="1737360"/>
            <a:ext cx="2697480" cy="3108960"/>
          </a:xfrm>
          <a:prstGeom prst="roundRect">
            <a:avLst>
              <a:gd name="adj" fmla="val 2712"/>
            </a:avLst>
          </a:prstGeom>
          <a:solidFill>
            <a:srgbClr val="F3F8F5"/>
          </a:solidFill>
          <a:ln w="12700">
            <a:solidFill>
              <a:srgbClr val="DCE7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84448" y="1965960"/>
            <a:ext cx="2240280" cy="384048"/>
          </a:xfrm>
          <a:prstGeom prst="roundRect">
            <a:avLst>
              <a:gd name="adj" fmla="val 23810"/>
            </a:avLst>
          </a:prstGeom>
          <a:solidFill>
            <a:srgbClr val="0E9E8F"/>
          </a:solidFill>
          <a:ln/>
        </p:spPr>
      </p:sp>
      <p:sp>
        <p:nvSpPr>
          <p:cNvPr id="12" name="Text 10"/>
          <p:cNvSpPr/>
          <p:nvPr/>
        </p:nvSpPr>
        <p:spPr>
          <a:xfrm>
            <a:off x="3584448" y="196596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3–5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84448" y="251460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02736" y="2971800"/>
            <a:ext cx="22402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E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breve con cuidadores y supervisores; guía rápida en español.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35040" y="1737360"/>
            <a:ext cx="164592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A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163056" y="1737360"/>
            <a:ext cx="2697480" cy="3108960"/>
          </a:xfrm>
          <a:prstGeom prst="roundRect">
            <a:avLst>
              <a:gd name="adj" fmla="val 2712"/>
            </a:avLst>
          </a:prstGeom>
          <a:solidFill>
            <a:srgbClr val="F3F8F5"/>
          </a:solidFill>
          <a:ln w="12700">
            <a:solidFill>
              <a:srgbClr val="DCE7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91656" y="1965960"/>
            <a:ext cx="2240280" cy="384048"/>
          </a:xfrm>
          <a:prstGeom prst="roundRect">
            <a:avLst>
              <a:gd name="adj" fmla="val 23810"/>
            </a:avLst>
          </a:prstGeom>
          <a:solidFill>
            <a:srgbClr val="0E9E8F"/>
          </a:solidFill>
          <a:ln/>
        </p:spPr>
      </p:sp>
      <p:sp>
        <p:nvSpPr>
          <p:cNvPr id="18" name="Text 16"/>
          <p:cNvSpPr/>
          <p:nvPr/>
        </p:nvSpPr>
        <p:spPr>
          <a:xfrm>
            <a:off x="6391656" y="196596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1–4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91656" y="251460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acompañado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9944" y="2971800"/>
            <a:ext cx="22402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E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real con soporte cercano; medimos las métricas acordadas.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842248" y="1737360"/>
            <a:ext cx="164592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AB0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970264" y="1737360"/>
            <a:ext cx="2697480" cy="3108960"/>
          </a:xfrm>
          <a:prstGeom prst="roundRect">
            <a:avLst>
              <a:gd name="adj" fmla="val 2712"/>
            </a:avLst>
          </a:prstGeom>
          <a:solidFill>
            <a:srgbClr val="F3F8F5"/>
          </a:solidFill>
          <a:ln w="12700">
            <a:solidFill>
              <a:srgbClr val="DCE7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98864" y="1965960"/>
            <a:ext cx="2240280" cy="384048"/>
          </a:xfrm>
          <a:prstGeom prst="roundRect">
            <a:avLst>
              <a:gd name="adj" fmla="val 23810"/>
            </a:avLst>
          </a:prstGeom>
          <a:solidFill>
            <a:srgbClr val="0E9E8F"/>
          </a:solidFill>
          <a:ln/>
        </p:spPr>
      </p:sp>
      <p:sp>
        <p:nvSpPr>
          <p:cNvPr id="24" name="Text 22"/>
          <p:cNvSpPr/>
          <p:nvPr/>
        </p:nvSpPr>
        <p:spPr>
          <a:xfrm>
            <a:off x="9198864" y="196596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198864" y="251460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217152" y="2971800"/>
            <a:ext cx="22402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E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Revisamos resultados y decidimos la continuidad juntos.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51206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Migramos desde su esquema actual (papel u hoja de cálculo). Usted no necesita infraestructura ni personal técnico.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CareSignal · Propuesta para su residencia · confidencial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30" name="TextBox 29"/>
          <p:cNvSpPr txBox="1"/>
          <p:nvPr/>
        </p:nvSpPr>
        <p:spPr>
          <a:xfrm rot="16200000">
            <a:off x="8887968" y="3282696"/>
            <a:ext cx="603504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750">
                <a:solidFill>
                  <a:srgbClr val="8A8A8A"/>
                </a:solidFill>
                <a:latin typeface="Calibri"/>
              </a:rPr>
              <a:t>© 2026 Roberto García  ·  CareSignal  ·  linkedin.com/in/robertogarciaits  ·  robertogarciaits@gmail.com  ·  844 588 1313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3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CONFIAR EN NOSOTROS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Enfocados en la operación del cuidado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F3F8F5"/>
          </a:solidFill>
          <a:ln w="12700">
            <a:solidFill>
              <a:srgbClr val="DCE7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920240"/>
            <a:ext cx="457200" cy="457200"/>
          </a:xfrm>
          <a:prstGeom prst="ellipse">
            <a:avLst/>
          </a:prstGeom>
          <a:solidFill>
            <a:srgbClr val="1E8E4E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901952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en el sector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17320" y="2331720"/>
            <a:ext cx="4434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E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Diseñado específicamente para el flujo de rondas de casas de cuidado.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64592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F3F8F5"/>
          </a:solidFill>
          <a:ln w="12700">
            <a:solidFill>
              <a:srgbClr val="DCE7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28232" y="1920240"/>
            <a:ext cx="457200" cy="457200"/>
          </a:xfrm>
          <a:prstGeom prst="ellipse">
            <a:avLst/>
          </a:prstGeom>
          <a:solidFill>
            <a:srgbClr val="1E8E4E"/>
          </a:solidFill>
          <a:ln/>
        </p:spPr>
      </p:sp>
      <p:sp>
        <p:nvSpPr>
          <p:cNvPr id="11" name="Text 9"/>
          <p:cNvSpPr/>
          <p:nvPr/>
        </p:nvSpPr>
        <p:spPr>
          <a:xfrm>
            <a:off x="6428232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040880" y="1901952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probada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040880" y="2331720"/>
            <a:ext cx="4434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E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verificado end-to-end con disciplina de calidad y auditoría.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56616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F3F8F5"/>
          </a:solidFill>
          <a:ln w="12700">
            <a:solidFill>
              <a:srgbClr val="DCE7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" y="3840480"/>
            <a:ext cx="457200" cy="457200"/>
          </a:xfrm>
          <a:prstGeom prst="ellipse">
            <a:avLst/>
          </a:prstGeom>
          <a:solidFill>
            <a:srgbClr val="1E8E4E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3840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17320" y="3822192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letra chica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17320" y="4251960"/>
            <a:ext cx="4434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E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dispositivo médico, sin datos clínicos, sin dependencia de hardware.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356616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F3F8F5"/>
          </a:solidFill>
          <a:ln w="12700">
            <a:solidFill>
              <a:srgbClr val="DCE7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28232" y="3840480"/>
            <a:ext cx="457200" cy="457200"/>
          </a:xfrm>
          <a:prstGeom prst="ellipse">
            <a:avLst/>
          </a:prstGeom>
          <a:solidFill>
            <a:srgbClr val="1E8E4E"/>
          </a:solidFill>
          <a:ln/>
        </p:spPr>
      </p:sp>
      <p:sp>
        <p:nvSpPr>
          <p:cNvPr id="21" name="Text 19"/>
          <p:cNvSpPr/>
          <p:nvPr/>
        </p:nvSpPr>
        <p:spPr>
          <a:xfrm>
            <a:off x="6428232" y="3840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040880" y="3822192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Acompañamiento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040880" y="4251960"/>
            <a:ext cx="4434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E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guiado y soporte cercano durante toda la evaluación.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58521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[Agregue logos de alianzas, credenciales del equipo o residencias que ya evalúan CareSignal.]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CareSignal · Propuesta para su residencia · confidencial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27" name="TextBox 26"/>
          <p:cNvSpPr txBox="1"/>
          <p:nvPr/>
        </p:nvSpPr>
        <p:spPr>
          <a:xfrm rot="16200000">
            <a:off x="8887968" y="3282696"/>
            <a:ext cx="603504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750">
                <a:solidFill>
                  <a:srgbClr val="8A8A8A"/>
                </a:solidFill>
                <a:latin typeface="Calibri"/>
              </a:rPr>
              <a:t>© 2026 Roberto García  ·  CareSignal  ·  linkedin.com/in/robertogarciaits  ·  robertogarciaits@gmail.com  ·  844 588 1313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532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4114800"/>
            <a:ext cx="4023360" cy="4023360"/>
          </a:xfrm>
          <a:prstGeom prst="ellipse">
            <a:avLst/>
          </a:prstGeom>
          <a:solidFill>
            <a:srgbClr val="1E4A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PASO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Probémoslo en su residencia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91672" cy="1691640"/>
          </a:xfrm>
          <a:prstGeom prst="roundRect">
            <a:avLst>
              <a:gd name="adj" fmla="val 5405"/>
            </a:avLst>
          </a:prstGeom>
          <a:solidFill>
            <a:srgbClr val="1E4A2E"/>
          </a:solidFill>
          <a:ln w="19050">
            <a:solidFill>
              <a:srgbClr val="1E8E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19456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de 30 días, sin costo de instalación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269748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F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Damos de alta su residencia, capacitamos al personal y medimos juntos el cumplimiento de rondas y el tiempo de respuesta. Al final, usted decide.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97764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1E4A2E"/>
          </a:solidFill>
          <a:ln w="12700">
            <a:solidFill>
              <a:srgbClr val="0E9E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41605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Agendar demo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46177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C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minutos, en vivo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15968" y="397764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1E4A2E"/>
          </a:solidFill>
          <a:ln w="12700">
            <a:solidFill>
              <a:srgbClr val="1E8E4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44568" y="41605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 piloto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44568" y="46177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C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Arranque en esta semana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83296" y="397764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1E4A2E"/>
          </a:solidFill>
          <a:ln w="12700">
            <a:solidFill>
              <a:srgbClr val="2A6B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11896" y="41605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Recibir propuesta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11896" y="46177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C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para su residencia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5897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[Nombre del ejecutivo]  ·  [correo]  ·  [teléfono]  ·  CareSignal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63550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F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CareSignal apoya la operación del cuidado; no es un dispositivo médico.</a:t>
            </a:r>
            <a:endParaRPr lang="en-US" sz="950" dirty="0"/>
          </a:p>
        </p:txBody>
      </p:sp>
      <p:sp>
        <p:nvSpPr>
          <p:cNvPr id="19" name="TextBox 18"/>
          <p:cNvSpPr txBox="1"/>
          <p:nvPr/>
        </p:nvSpPr>
        <p:spPr>
          <a:xfrm rot="16200000">
            <a:off x="8887968" y="3282696"/>
            <a:ext cx="6035040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750">
                <a:solidFill>
                  <a:srgbClr val="8A8A8A"/>
                </a:solidFill>
                <a:latin typeface="Calibri"/>
              </a:rPr>
              <a:t>© 2026 Roberto García  ·  CareSignal  ·  linkedin.com/in/robertogarciaits  ·  robertogarciaits@gmail.com  ·  844 588 1313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CareSignal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CareSignal — Sales deck</dc:title>
  <dc:subject>CareSignal — modelo creado por Roberto García</dc:subject>
  <dc:creator>Roberto García</dc:creator>
  <cp:lastModifiedBy>Roberto García</cp:lastModifiedBy>
  <cp:revision>1</cp:revision>
  <dcterms:created xsi:type="dcterms:W3CDTF">2026-07-20T03:49:08Z</dcterms:created>
  <dcterms:modified xsi:type="dcterms:W3CDTF">2026-07-20T03:49:08Z</dcterms:modified>
  <cp:category>Presentación ejecutiva</cp:category>
  <cp:contentStatus>Confidencial</cp:contentStatus>
  <dc:description>© 2026 Roberto García. Todos los derechos reservados. Contacto: linkedin.com/in/robertogarciaits · robertogarciaits@gmail.com · 844 588 1313</dc:description>
  <cp:keywords>CareSignal, Roberto García, cuidado adulto mayor, residencias</cp:keywords>
  <dc:language>es-MX</dc:language>
</cp:coreProperties>
</file>