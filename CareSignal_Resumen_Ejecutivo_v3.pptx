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799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937760" cy="4937760"/>
          </a:xfrm>
          <a:prstGeom prst="ellipse">
            <a:avLst/>
          </a:prstGeom>
          <a:solidFill>
            <a:srgbClr val="2433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3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64592" cy="16459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28016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2144" y="1280160"/>
            <a:ext cx="164592" cy="164592"/>
          </a:xfrm>
          <a:prstGeom prst="ellipse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4752" y="128016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plataforma. Tres mercados.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rondas, alertas y escalamiento con auditoría — para el cuidado del adulto mayor en residencias y en el hogar.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LIBERADO — PASS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síntesis para dirección, socios y consejo · Roberto García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0" y="13258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79992" y="14996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25228" y="13898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79992" y="14996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72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079992" y="1819656"/>
            <a:ext cx="2002536" cy="246888"/>
          </a:xfrm>
          <a:prstGeom prst="rect">
            <a:avLst/>
          </a:prstGeom>
          <a:solidFill>
            <a:srgbClr val="172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26296" y="15910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2629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2629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2629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82065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2065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2065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41501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1501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1501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226296" y="292608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26296" y="318211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17736" y="3300984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17736" y="328269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28632" y="318211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158984" y="318211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226296" y="371246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317736" y="3831336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317736" y="381304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28632" y="37124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158984" y="371246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226296" y="424281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317736" y="436168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317736" y="434340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28632" y="424281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158984" y="4242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226296" y="477316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317736" y="4892040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317736" y="487375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628632" y="477316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158984" y="477316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51" name="TextBox 50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dolor operativo sobre una ola demográfica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 del adulto mayor se coordina con papel, mensajes y memoria — sin visibilidad ni evidencia. Y la demanda crece de forma estructural durante décadas.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761M → 1,600M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5528" y="29992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65+ en el mundo, 2021→2050 (ONU DESA).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2240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2395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62856" y="29992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México será 60+ en 2050; hoy 17.1M (INEGI/CONAPO).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2240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11896" y="23957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30184" y="29992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global de cuidadores para 2030 (OMS).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7223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alertar, escalar y comprobar la respuesta en un flujo simple y auditable — sin sustituir al personal ni hacer afirmaciones médicas. Un mismo motor sirve a residencias, a familias y a la tesis de inversión.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operacional, de la ronda al cierre auditable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440" y="2011680"/>
            <a:ext cx="402336" cy="40233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2316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402336" cy="402336"/>
          </a:xfrm>
          <a:prstGeom prst="ellipse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7802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7802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amarilla / roja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7880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2011680"/>
            <a:ext cx="402336" cy="40233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5254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responsable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7220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2011680"/>
            <a:ext cx="402336" cy="402336"/>
          </a:xfrm>
          <a:prstGeom prst="ellipse">
            <a:avLst/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2706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2706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personal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2784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4672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32520" y="2011680"/>
            <a:ext cx="402336" cy="40233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3252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0158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0158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resultado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02368" y="1828800"/>
            <a:ext cx="155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21240" y="1828800"/>
            <a:ext cx="1773936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607040" y="2011680"/>
            <a:ext cx="402336" cy="402336"/>
          </a:xfrm>
          <a:prstGeom prst="ellipse">
            <a:avLst/>
          </a:prstGeom>
          <a:solidFill>
            <a:srgbClr val="172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6070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76104" y="251460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76104" y="283464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703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7223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7240" y="3703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por diseño.  </a:t>
            </a:r>
            <a:r>
              <a:rPr lang="en-US" sz="13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registra actor + fecha + hora (append-only). Sin sensores, sin datos clínicos, bajo costo, en español.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48640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9808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9808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alerta activa por ronda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15968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17136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517136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reproducible en &lt; 5 min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083296" y="47548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284464" y="4864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284464" y="51755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imposible de perder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2" name="TextBox 5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— hoy funcionando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0759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5282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0759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72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07592" y="1911096"/>
            <a:ext cx="2002536" cy="246888"/>
          </a:xfrm>
          <a:prstGeom prst="rect">
            <a:avLst/>
          </a:prstGeom>
          <a:solidFill>
            <a:srgbClr val="172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5389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5389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5389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5389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4825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42616" y="230428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42616" y="234086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42616" y="265176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53896" y="301752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53896" y="327355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45336" y="3392424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45336" y="337413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56232" y="32735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86584" y="327355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53896" y="380390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545336" y="3922776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45336" y="390448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56232" y="380390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86584" y="380390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53896" y="433425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45336" y="445312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45336" y="443484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56232" y="43342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86584" y="433425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53896" y="486460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545336" y="4983480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45336" y="496519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56232" y="486460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86584" y="48646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8348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0235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84758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10235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102352" y="1911096"/>
            <a:ext cx="2002536" cy="24688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24865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· Turno 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48656" y="232257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340096" y="2441448"/>
            <a:ext cx="219456" cy="21945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40096" y="242316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50992" y="232257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81344" y="232257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48656" y="285292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340096" y="2971800"/>
            <a:ext cx="219456" cy="219456"/>
          </a:xfrm>
          <a:prstGeom prst="ellipse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340096" y="295351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50992" y="285292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81344" y="28529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48656" y="338328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340096" y="3502152"/>
            <a:ext cx="219456" cy="21945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340096" y="3483864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50992" y="33832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81344" y="3383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48656" y="391363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340096" y="4032504"/>
            <a:ext cx="219456" cy="219456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340096" y="401421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50992" y="391363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81344" y="391363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48656" y="451713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248656" y="451713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ronda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248656" y="5047488"/>
            <a:ext cx="170992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248656" y="5047488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apoyo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778240" y="141732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897112" y="159105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642348" y="14813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897112" y="159105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897112" y="1911096"/>
            <a:ext cx="2002536" cy="246888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043416" y="168249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Evento a verificar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043416" y="234086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vencida · Hab 15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9043416" y="2615184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R.  ·  severidad Roja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043416" y="2962656"/>
            <a:ext cx="1709928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153144" y="3035808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 Ronda programada
</a:t>
            </a:r>
            <a:r>
              <a:rPr lang="en-US" sz="8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 Vencida → alerta roja
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10:16  Sin responsable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043416" y="4078224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043416" y="40782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cuidador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043416" y="460857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043416" y="46085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supervisor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4582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84582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residentes y alertas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64058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(cuidador)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464058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Iniciar, completar, solicitar apoyo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435340" y="5779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 verificar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435340" y="6053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o escalar · auditable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9052560" y="45720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ilustrativos · datos ficticios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2" name="TextBox 9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plataforma, tres líneas de negocio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320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Comprador: director de residencia.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32004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verificable de rondas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por residencia / por plaza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listo para piloto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193792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51937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PILOTO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5968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15968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15968" y="2148840"/>
            <a:ext cx="3566160" cy="320040"/>
          </a:xfrm>
          <a:prstGeom prst="rect">
            <a:avLst/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44568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en Casa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2606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Comprador: hijos que cuidan a distancia.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2856" y="32004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 y coordinación familiar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por hogar (ángulo remesas)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concepto — requiere v0.2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44568" y="5193792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44568" y="51937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v0.2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83296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83296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83296" y="2148840"/>
            <a:ext cx="3566160" cy="3200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11896" y="1664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11896" y="2084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11896" y="26060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 inversionistas y consejo.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0184" y="32004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demográfica + MVP probado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software LTC ~US$12B (2032)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Pedido: piloto + ronda semilla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11896" y="5193792"/>
            <a:ext cx="3108960" cy="402336"/>
          </a:xfrm>
          <a:prstGeom prst="roundRect">
            <a:avLst>
              <a:gd name="adj" fmla="val 22727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11896" y="51937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SEMILLA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Box 3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 — primera iteración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US$5.8B → ~US$12B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15798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cuidado de largo plazo (LTC) global, 2024→2032, CAGR ~8.5%.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0E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+ LATAM hispano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 privadas + agencias de cuidado. Base MX: 819 residencias, ~85% privadas.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535424"/>
            <a:ext cx="1051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71830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México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1389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residencias privadas (~10–15% del segmento) vía pilotos. Por validar.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468112" cy="4379976"/>
          </a:xfrm>
          <a:prstGeom prst="roundRect">
            <a:avLst>
              <a:gd name="adj" fmla="val 1670"/>
            </a:avLst>
          </a:prstGeom>
          <a:solidFill>
            <a:srgbClr val="17223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momento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Envejecimiento acelerado en México y LATAM.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Escasez estructural de cuidadores (OMS: −11M a 2030).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que cuidan a distancia buscan tranquilidad.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de trazabilidad y cumplimiento en el sector.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línea (familias) amplía el mercado direccionable.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iteración de mercado · cifras por validar en el piloto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gana cada línea — hipótesis a validar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20116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y trazabilidad del cuidado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 dueño + escalamiento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costo, sin hardware, en español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5968" y="2148840"/>
            <a:ext cx="3566160" cy="20116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4568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Residencias: SaaS por plaza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Familias: freemium por hogar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B2B2C: comisión / licencia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83296" y="2148840"/>
            <a:ext cx="3566160" cy="201168"/>
          </a:xfrm>
          <a:prstGeom prst="rect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11896" y="17099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256032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costo mínimo, sin backend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Post-MVP: cloud e integraciones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Cumplimiento, ventas y soporte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Generation (Osterwalder &amp; Pigneur).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lienzo son hipótesis; el MVP no genera ingresos y las cifras se validan en el piloto.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liberado y verificado end-to-end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95528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v0.1.0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C8 aprobado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44568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62856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con gate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revisión humana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11896" y="17830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30184" y="24048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contrato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5528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(vitest)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15968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44568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62856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blocker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high corregido)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83296" y="33832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11896" y="3566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30184" y="4187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completo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3036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disciplina de contrato congelado y gobierno de cambios por gates: prueba de capacidad de ejecución, no solo de idea.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Ahora, después y futuro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3566160" cy="237744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· liberado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y estados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amarilla / roja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y auditoría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simulado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15968" y="2167128"/>
            <a:ext cx="3566160" cy="237744"/>
          </a:xfrm>
          <a:prstGeom prst="rect">
            <a:avLst/>
          </a:prstGeom>
          <a:solidFill>
            <a:srgbClr val="F9A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44568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16168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 · post-piloto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(SMS/WhatsApp)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Familias en Casa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familiar · reportes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3296" y="16916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83296" y="1691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83296" y="2167128"/>
            <a:ext cx="3566160" cy="23774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11896" y="17190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83496" y="171907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39328" y="2606040"/>
            <a:ext cx="31089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y wearables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de sector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Aseguradoras / municipios</a:t>
            </a:r>
            <a:endParaRPr lang="en-US" sz="125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Familias (B2C) requiere una nueva versión del contrato (v0.2): notificaciones externas y multi-hogar.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— y qué no 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AF6E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 de demostración, liberado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Rondas, alertas, escalamiento y auditoría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100% ficticios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responsive, bajo costo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(texto + ícono, no solo color)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CECEA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847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es (todavía)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dispositivo médico ni diagnóstico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sensores, wearables ni cámaras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detección de caídas ni signos vitales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backend ni datos reales aún</a:t>
            </a:r>
            <a:endParaRPr lang="en-US" sz="13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mercado: primera iteración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honestidad de alcance reduce riesgo regulatorio y acelera la validación — dentro y fuera de la residencia.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114800"/>
            <a:ext cx="4023360" cy="4023360"/>
          </a:xfrm>
          <a:prstGeom prst="ellipse">
            <a:avLst/>
          </a:prstGeom>
          <a:solidFill>
            <a:srgbClr val="2433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89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MVP probado al mercado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243357"/>
          </a:solidFill>
          <a:ln w="1905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un piloto de 30 días en 3–5 residencias, con métricas de omisiones y respuesta.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243357"/>
          </a:solidFill>
          <a:ln w="19050">
            <a:solidFill>
              <a:srgbClr val="0E9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214884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0E9E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2148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propuesta B2C y aprobar el contrato v0.2 (notificaciones + multi-hogar).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243357"/>
          </a:solidFill>
          <a:ln w="190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11896" y="214884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11896" y="2148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39328" y="27889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semilla para pasar de MVP a producto comercial sobre una ola demográfica de décadas.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433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petición.  </a:t>
            </a:r>
            <a:r>
              <a:rPr lang="en-US" sz="13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“sí” al piloto de residencias y a preparar la línea de familias, respaldado por una ronda semilla — dentro del alcance congelado y sin funciones médicas.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operacional, no dispositivo médico · Datos ficticios  ·  CareSignal</a:t>
            </a:r>
            <a:endParaRPr lang="en-US" sz="950" dirty="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Y FUENTES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y datos de mercado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5F7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García
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 del modelo CareSignal
LinkedIn:  linkedin.com/in/robertogarciaits
Correo:  robertogarciaits@gmail.com
Tel:  844 588 1313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6811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mercado y demografía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 DESA — 65+ mundial 761M→1,600M (2050).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CONAPO — México 17.1M; 60+ = 27.7% en 2050.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/ OCDE — déficit 11M cuidadores a 2030.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 / DENUE — 819 residencias MX, ~85% privadas.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/ Market.us — software LTC US$5.8B→~US$12B.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 y proyecciones son una primera iteración; ARPA e ingresos se validan en el piloto.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1620</Words>
  <Application>Microsoft Office PowerPoint</Application>
  <PresentationFormat>Custom</PresentationFormat>
  <Paragraphs>295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CareSignal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— Resumen ejecutivo (una plataforma, tres mercados)</dc:title>
  <dc:subject>CareSignal — modelo creado por Roberto García</dc:subject>
  <dc:creator>Roberto García</dc:creator>
  <cp:keywords>CareSignal, Roberto García, resumen ejecutivo, B2B, B2C</cp:keywords>
  <dc:description>© 2026 Roberto García. Todos los derechos reservados. Contacto: linkedin.com/in/robertogarciaits · robertogarciaits@gmail.com · 844 588 1313</dc:description>
  <cp:lastModifiedBy>Roberto Garcia</cp:lastModifiedBy>
  <cp:revision>1</cp:revision>
  <dcterms:created xsi:type="dcterms:W3CDTF">2026-07-20T15:08:11Z</dcterms:created>
  <dcterms:modified xsi:type="dcterms:W3CDTF">2026-07-20T22:55:59Z</dcterms:modified>
  <cp:category>Resumen ejecutivo</cp:category>
  <cp:contentStatus>Confidencial</cp:contentStatus>
  <dc:language>es-MX</dc:language>
</cp:coreProperties>
</file>