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Proporción de 60+</c:v>
                </c:pt>
              </c:strCache>
            </c:strRef>
          </c:tx>
          <c:spPr>
            <a:solidFill>
              <a:srgbClr val="0A3D5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2050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12.8</c:v>
                </c:pt>
                <c:pt idx="1">
                  <c:v>27.7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D1B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56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No leas la lámina. Pregunta: "cuando una familia le reclame que nadie revisó a su mamá el martes, ¿con qué le responde hoy?" Deja la pausa.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punto: atacar los síntomas con más formatos o más supervisión no toca la raíz. La captura sigue dependiendo de la memoria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viento de cola. No hay que crear la demanda: llega sola y no se revierte.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el matiz tú primero convierte una objeción en credibilidad. Si lo ocultas y el inversionista lo descubre, pierdes la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columna "lo que no es" gana credibilidad con clientes escaldados por proveedores que prometen de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Distingue tracción de PRODUCTO de tracción de MERCADO. Un fondo pregunta por la segunda. Decirlo tú evita que suene a que lo escondías.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te preguntan por el tamaño: "entre 1,300 y 1,500 según la fuente, más informalidad no cuantificada". Nunca des una cifra que no puedas defender.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ángulo de remesas: 11 millones de hogares reciben dinero del exterior. Falta validar el salto de "manda dinero" a "paga suscripción de tranquilidad".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tomada de tu Sales Deck. Los montos siguen sin definir: decídelos antes de presentar a un inversionista.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Nunca dejes que el inversionista descubra estos cuatro puntos solo. Dichos por ti, son criterio; descubiertos por él, son omisión.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inventé nombres ni trayectorias. Complétala tú.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el ask antes de agendar con un fondo. Sin número concreto, la reunión no tiene cierre 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la petición concreta que hayas definido en la lámina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2834640"/>
            <a:ext cx="9509760" cy="6766560"/>
          </a:xfrm>
          <a:prstGeom prst="ellipse">
            <a:avLst/>
          </a:prstGeom>
          <a:solidFill>
            <a:srgbClr val="0A3D5C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76656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566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9692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residencia ya está obligada</a:t>
            </a:r>
            <a:endParaRPr lang="en-US" sz="47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documentar el cuidado que da.</a:t>
            </a:r>
            <a:endParaRPr lang="en-US" sz="4700" dirty="0"/>
          </a:p>
        </p:txBody>
      </p:sp>
      <p:sp>
        <p:nvSpPr>
          <p:cNvPr id="6" name="Text 4"/>
          <p:cNvSpPr/>
          <p:nvPr/>
        </p:nvSpPr>
        <p:spPr>
          <a:xfrm>
            <a:off x="777240" y="3493008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puede.</a:t>
            </a:r>
            <a:endParaRPr lang="en-US" sz="4700" dirty="0"/>
          </a:p>
        </p:txBody>
      </p:sp>
      <p:sp>
        <p:nvSpPr>
          <p:cNvPr id="7" name="Shape 5"/>
          <p:cNvSpPr/>
          <p:nvPr/>
        </p:nvSpPr>
        <p:spPr>
          <a:xfrm>
            <a:off x="777240" y="4590288"/>
            <a:ext cx="41148" cy="78638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45720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porque su gente no trabaje. Porque </a:t>
            </a:r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alguien está bien no deja rastro</a:t>
            </a:r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 el turno se releva cada ocho horas llevándose la memoria.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5806440"/>
            <a:ext cx="10607040" cy="10973"/>
          </a:xfrm>
          <a:prstGeom prst="rect">
            <a:avLst/>
          </a:prstGeom>
          <a:solidFill>
            <a:srgbClr val="17506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60533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NOM-031-SSA3-2012 · Expediente administrativo por cada usuario · vigente desde 2012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26680" y="6053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dispositivo médico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 es invisible, y debe probarse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alguien está bien no deja rastro físico. </a:t>
            </a:r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captura en el instante, deja de existir.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099816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306324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44168" y="3364992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reclamo, una auditoría o el dueño, no hay registro horario de quién verificó a quién ni con qué resultado.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4151376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411480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44168" y="4416552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turno nadie sabe qué ronda está pendiente ni quién es responsable de un aviso.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5202936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44168" y="516636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administrativa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44168" y="5468112"/>
            <a:ext cx="5925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reporte se reconstruye a mano juntando papeles y mensajes.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3749040" cy="3840480"/>
          </a:xfrm>
          <a:prstGeom prst="roundRect">
            <a:avLst>
              <a:gd name="adj" fmla="val 1951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2128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82128" y="24505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82128" y="26700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puedo demostrar qué se hizo.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82128" y="32552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82128" y="347472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depende de que alguien lo anote después.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82128" y="40599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82128" y="427939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turno se releva cada 8 horas.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82128" y="48646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82128" y="508406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acto de cuidar no genera evidencia por sí mismo.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análisis de causa raíz, dossier ejecutivo §2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estructural, no coyuntural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3246120" cy="1600200"/>
          </a:xfrm>
          <a:prstGeom prst="roundRect">
            <a:avLst>
              <a:gd name="adj" fmla="val 342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66544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 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8408" y="2633472"/>
            <a:ext cx="28437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 60 años o más en México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246120" cy="1600200"/>
          </a:xfrm>
          <a:prstGeom prst="roundRect">
            <a:avLst>
              <a:gd name="adj" fmla="val 342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066544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98848" y="2633472"/>
            <a:ext cx="28437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nacional, hoy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18120" y="1920240"/>
            <a:ext cx="3246120" cy="1600200"/>
          </a:xfrm>
          <a:prstGeom prst="roundRect">
            <a:avLst>
              <a:gd name="adj" fmla="val 3429"/>
            </a:avLst>
          </a:prstGeom>
          <a:solidFill>
            <a:srgbClr val="E8F1F7"/>
          </a:solidFill>
          <a:ln w="9525">
            <a:solidFill>
              <a:srgbClr val="7FAD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9288" y="2066544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19288" y="2633472"/>
            <a:ext cx="28437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hacia 2050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proporción de población mayor se duplica en 25 años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77240" y="4297680"/>
          <a:ext cx="65836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863840" y="429768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2440" y="44805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2030 se superan los 20 millones.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envejecimiento no se revierte: cada año hay más residentes por cuidador disponible.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CONAPO, 2025 y proyecciones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GANCHO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obligación de documentar ya existe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E8F1F7"/>
          </a:solidFill>
          <a:ln w="9525">
            <a:solidFill>
              <a:srgbClr val="7FAD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NOM-031-SSA3-2012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4048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 desde noviembre de 2012 · confirmada sin cambios en 2021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78892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todo establecimiento a llevar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administrativo por cada usuario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además de manuales, programa de trabajo y registro ante el DIF.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818120" y="187452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9288" y="2020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019288" y="2587752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publicación en el DOF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18120" y="310896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325526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19288" y="3822192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 normativo previo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10607040" cy="1325880"/>
          </a:xfrm>
          <a:prstGeom prst="roundRect">
            <a:avLst>
              <a:gd name="adj" fmla="val 5517"/>
            </a:avLst>
          </a:prstGeom>
          <a:solidFill>
            <a:srgbClr val="FDF3DD"/>
          </a:solidFill>
          <a:ln w="9525">
            <a:solidFill>
              <a:srgbClr val="D9B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902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MATIZ QUE NO OCULTAMOS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8646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casi no se fiscaliza: la CNDH supervisó 58 de ~1,500 centros durante la pandemia.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no vendemos miedo al inspector, sino respaldo ante el reclamo de una familia — que sí ocurre. Y la clausura, aunque rara, existe: un asilo cerrado en San Luis Potosí en mayo de 2025.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DOF · CNDH, Informe ISP-12/2020 · prensa nacional, 2025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cada ronda en evidencia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11096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44168" y="18745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44168" y="2176272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cuidador cierra una ronda en tres toques desde el móvil.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715768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44168" y="2679192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344168" y="2980944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vencimiento genera la alerta solo, y la escala según el retraso.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3483864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44168" y="3785616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alerta tiene dueño explícito; cada reasignación queda registrada.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325112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44168" y="4288536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344168" y="4590288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cerrar sin resolver, ni resolver sin resultado.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5129784"/>
            <a:ext cx="384048" cy="384048"/>
          </a:xfrm>
          <a:prstGeom prst="ellipse">
            <a:avLst/>
          </a:prstGeom>
          <a:solidFill>
            <a:srgbClr val="E8F1F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44168" y="5093208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44168" y="5394960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inalterable con actor, fecha y hora en cada acción.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52360" y="192024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E7F4EC"/>
          </a:solidFill>
          <a:ln w="9525">
            <a:solidFill>
              <a:srgbClr val="86BB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99248" y="239572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y móvil. Sin sensores, sin hardware, sin instalación. El personal la usa en minutos.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52360" y="406908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99248" y="454456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dispositivo médico. No mide signos vitales, no detecta caídas, no diagnostica y no sustituye al personal.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restricciones están escritas en el producto, no solo en el discurso comercial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está construido y auditado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E7F4EC"/>
          </a:solidFill>
          <a:ln w="9525">
            <a:solidFill>
              <a:srgbClr val="86BB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840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 aprobadas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E7F4EC"/>
          </a:solidFill>
          <a:ln w="9525">
            <a:solidFill>
              <a:srgbClr val="86BB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38/38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7588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en verde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E7F4EC"/>
          </a:solidFill>
          <a:ln w="9525">
            <a:solidFill>
              <a:srgbClr val="86BB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7336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críticos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968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084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7084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con aprobación formal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 entregado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con seis estados operativos y detección automática de vencimientos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 de alerta: reconocer, asignar, escalar, verificar, resolver, cerrar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 con diez indicadores operativos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auditable append-only con actor, fecha y hora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18120" y="379476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DF3DD"/>
          </a:solidFill>
          <a:ln w="9525">
            <a:solidFill>
              <a:srgbClr val="D9B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 DE MERCADO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2702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no hay clientes ni pilotos en operación. Lo que existe es producto verificado, listo para el primer piloto.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auditoría de calidad, dossier ejecutivo §8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sector que se está formalizando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1,297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840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residencias registradas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7588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de registros en un año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7336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sector es privado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9680" y="1920240"/>
            <a:ext cx="2468880" cy="1554480"/>
          </a:xfrm>
          <a:prstGeom prst="roundRect">
            <a:avLst>
              <a:gd name="adj" fmla="val 352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0848" y="2066544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70848" y="263347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 en 9 estados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794760"/>
            <a:ext cx="6583680" cy="1828800"/>
          </a:xfrm>
          <a:prstGeom prst="roundRect">
            <a:avLst>
              <a:gd name="adj" fmla="val 4000"/>
            </a:avLst>
          </a:prstGeom>
          <a:solidFill>
            <a:srgbClr val="FDF3DD"/>
          </a:solidFill>
          <a:ln w="9525">
            <a:solidFill>
              <a:srgbClr val="D9B5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9776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INCÓMODO, DICHO DE FRENTE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" y="427939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~1,300 clientes formales en todo México.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mercado de volumen: obliga a ticket alto por cliente o a expansión geográfica. A cambio, la concentración en nueve estados hace viable una estrategia comercial presencial y enfocada.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379476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EMPEZAR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4279392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Jalisco 152 · CDMX 109 · Nuevo León 105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370 establecimientos en tres entidades: un equipo comercial pequeño los cubre.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DENUE 2024–2025 · el INEGI reporta ~1,500 centros con otra metodología; hay informalidad no cuantificada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motor, mil veces el universo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03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RESIDENCIAS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23957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~1,300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33272" y="3017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establecimientos formales. Producto construido y verificado.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E8F1F7"/>
          </a:solidFill>
          <a:ln w="9525">
            <a:solidFill>
              <a:srgbClr val="7FAD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· FAMILIAS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65392" y="23957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565392" y="3017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 con un adulto mayor viviendo solo. 96.8% de ellos con algún problema de salud.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raíz distinta, no el mismo producto con otra piel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residencia el problema es probar hacia afuera un trabajo profesional. En el hogar es reconciliar dos necesidades legítimas en conflicto: la persona mayor quiere autonomía, la familia quiere certeza. Cambia quién emite la señal y cambia el motivo de compra.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448056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DF3DD"/>
          </a:solidFill>
          <a:ln w="9525">
            <a:solidFill>
              <a:srgbClr val="D9B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464515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no vendible.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notificaciones externas, hoy fuera del alcance construido.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INEGI · ENASIC 2022 · CEMLA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por residencia o por plaza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21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precio ] / mes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3272" y="28529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y alertas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auditable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8F1F7"/>
          </a:solidFill>
          <a:ln w="15875">
            <a:solidFill>
              <a:srgbClr val="7FAD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121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45152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precio ] / mes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45152" y="28529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Esencial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turno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y métricas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01000" y="192024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2121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57032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precio ] / mes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57032" y="2852928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Multi-residencia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dedicado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servicio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389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de hardware ni instalación. La migración parte del esquema actual del cliente: papel u hoja de cálculo.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5486400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FDF3DD"/>
          </a:solidFill>
          <a:ln w="9525">
            <a:solidFill>
              <a:srgbClr val="D9B5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48640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— Definir los montos de cada plan y la unidad de cobro (por residencia o por plaza). Es la lámina que un fondo examina con más cuidado.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todavía no resolvemos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alerta no sale de la pantalla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24688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SMS, WhatsApp ni push. Si nadie tiene la app abierta, el aviso espera. Es el primer desarrollo de la siguiente versión.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 central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73952" y="24688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viven en el navegador: no hay sincronización entre dispositivos ni entre sedes.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4041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captura es declarativa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3272" y="43891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QR ni NFC en la puerta: se registra lo que el cuidador declara, no su presencia verificada.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4041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formal estrecho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43891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1,300 clientes potenciales obliga a ticket alto o a salir de México antes de lo previsto.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1996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los límites por adelantado es parte de la propuesta: el cliente objetivo ya fue decepcionado por proveedores que prometieron de más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ejecuta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10607040" cy="2651760"/>
          </a:xfrm>
          <a:prstGeom prst="roundRect">
            <a:avLst>
              <a:gd name="adj" fmla="val 275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86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lámina no puede escribirse desde el análisis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28346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y responsables: nombre, rol y por qué esta persona resuelve este problema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previa relevante en salud, cuidado, operaciones o software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construyó el producto y quién lo va a vender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Asesores, aliados o instituciones que respaldan el proyecto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5486400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FDF3DD"/>
          </a:solidFill>
          <a:ln w="9525">
            <a:solidFill>
              <a:srgbClr val="D9B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48640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— El equipo suele ser lo segundo que mira un fondo, después del problema. Sin esta lámina el deck queda incompleto.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76072"/>
            <a:ext cx="100584" cy="10058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987552" y="47548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PETICIÓN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pedimos y para qué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35640" y="47548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48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166360" cy="2651760"/>
          </a:xfrm>
          <a:prstGeom prst="roundRect">
            <a:avLst>
              <a:gd name="adj" fmla="val 2759"/>
            </a:avLst>
          </a:prstGeom>
          <a:solidFill>
            <a:srgbClr val="E8F1F7"/>
          </a:solidFill>
          <a:ln w="9525">
            <a:solidFill>
              <a:srgbClr val="7FAD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121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ESTÁ DEFINIDO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2450592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30 días con métricas acordadas de antemano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entidades objetivo: Jalisco, CDMX y Nuevo León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desarrollo: notificaciones externas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B2C por entrevistas, no por código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074920" cy="2651760"/>
          </a:xfrm>
          <a:prstGeom prst="roundRect">
            <a:avLst>
              <a:gd name="adj" fmla="val 2759"/>
            </a:avLst>
          </a:prstGeom>
          <a:solidFill>
            <a:srgbClr val="F4F8FA"/>
          </a:solidFill>
          <a:ln w="9525">
            <a:solidFill>
              <a:srgbClr val="DAE4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 DEFINIR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65392" y="2450592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que se levanta y a cambio de qué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que financia esa cantidad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del uso de fondos: producto, comercial, operación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que se comprometen con ese dinero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5486400"/>
            <a:ext cx="10607040" cy="566928"/>
          </a:xfrm>
          <a:prstGeom prst="roundRect">
            <a:avLst>
              <a:gd name="adj" fmla="val 9677"/>
            </a:avLst>
          </a:prstGeom>
          <a:solidFill>
            <a:srgbClr val="FDF3DD"/>
          </a:solidFill>
          <a:ln w="9525">
            <a:solidFill>
              <a:srgbClr val="D9B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48640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— Sin monto, destino y horizonte no hay petición; hay una conversación informativa. Es la lámina que justifica la reunión.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2834640"/>
            <a:ext cx="9509760" cy="6766560"/>
          </a:xfrm>
          <a:prstGeom prst="ellipse">
            <a:avLst/>
          </a:prstGeom>
          <a:solidFill>
            <a:srgbClr val="0A3D5C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76656"/>
            <a:ext cx="118872" cy="11887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4" name="Text 2"/>
          <p:cNvSpPr/>
          <p:nvPr/>
        </p:nvSpPr>
        <p:spPr>
          <a:xfrm>
            <a:off x="1014984" y="566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construido.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normativa vigente.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el primer piloto.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4709160"/>
            <a:ext cx="41148" cy="731520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46908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B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Treinta días, tres métricas acordadas de antemano. Si no se mueven, no hay venta.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5806440"/>
            <a:ext cx="10607040" cy="10973"/>
          </a:xfrm>
          <a:prstGeom prst="rect">
            <a:avLst/>
          </a:prstGeom>
          <a:solidFill>
            <a:srgbClr val="17506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60533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nombre · correo · teléfono 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55080" y="6053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apoya la operación del cuidado. No es un dispositivo médico.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CareSignal — Pitch a inversionistas</dc:title>
  <dc:subject>PptxGenJS Presentation</dc:subject>
  <dc:creator>CareSignal</dc:creator>
  <cp:lastModifiedBy>CareSignal</cp:lastModifiedBy>
  <cp:revision>1</cp:revision>
  <dcterms:created xsi:type="dcterms:W3CDTF">2026-08-31T23:40:56Z</dcterms:created>
  <dcterms:modified xsi:type="dcterms:W3CDTF">2026-08-31T23:40:56Z</dcterms:modified>
</cp:coreProperties>
</file>