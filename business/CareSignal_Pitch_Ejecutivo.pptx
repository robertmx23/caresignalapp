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4754880" cy="4754880"/>
          </a:xfrm>
          <a:prstGeom prst="ellipse">
            <a:avLst/>
          </a:prstGeom>
          <a:solidFill>
            <a:srgbClr val="242A55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663440"/>
            <a:ext cx="3657600" cy="3657600"/>
          </a:xfrm>
          <a:prstGeom prst="ellipse">
            <a:avLst/>
          </a:prstGeom>
          <a:solidFill>
            <a:srgbClr val="242A55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371600"/>
            <a:ext cx="164592" cy="164592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5" name="Shape 3"/>
          <p:cNvSpPr/>
          <p:nvPr/>
        </p:nvSpPr>
        <p:spPr>
          <a:xfrm>
            <a:off x="859536" y="1371600"/>
            <a:ext cx="164592" cy="164592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" y="1371600"/>
            <a:ext cx="164592" cy="164592"/>
          </a:xfrm>
          <a:prstGeom prst="ellipse">
            <a:avLst/>
          </a:prstGeom>
          <a:solidFill>
            <a:srgbClr val="F9AB00"/>
          </a:solidFill>
          <a:ln/>
        </p:spPr>
      </p:sp>
      <p:sp>
        <p:nvSpPr>
          <p:cNvPr id="7" name="Shape 5"/>
          <p:cNvSpPr/>
          <p:nvPr/>
        </p:nvSpPr>
        <p:spPr>
          <a:xfrm>
            <a:off x="1444752" y="1371600"/>
            <a:ext cx="164592" cy="16459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91640"/>
            <a:ext cx="10972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CareSignal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CF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de rondas, alertas y escalamiento con auditoría — para el cuidado del adulto mayor.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2011680" cy="384048"/>
          </a:xfrm>
          <a:prstGeom prst="roundRect">
            <a:avLst>
              <a:gd name="adj" fmla="val 23810"/>
            </a:avLst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9776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LIBERADO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697480" y="3977640"/>
            <a:ext cx="2788920" cy="384048"/>
          </a:xfrm>
          <a:prstGeom prst="roundRect">
            <a:avLst>
              <a:gd name="adj" fmla="val 23810"/>
            </a:avLst>
          </a:prstGeom>
          <a:solidFill>
            <a:srgbClr val="1A73E8"/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397764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EJECUTIVO · SERIE PILOTO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5806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para inversionistas y C-levels  ·  Primera iteración de mercado (cifras por validar)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Contexto: WomenCISO · Google México / Google Cloud — uso educativo  ·  MVP con datos ficticios</a:t>
            </a:r>
            <a:endParaRPr lang="en-US" sz="1000" dirty="0"/>
          </a:p>
        </p:txBody>
      </p:sp>
      <p:sp>
        <p:nvSpPr>
          <p:cNvPr id="16" name="TextBox 15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cuidado se vigila con papel, memoria y WhatsApp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residencias y cuidado domiciliario no hay forma simple de saber, en el momento, si una ronda de verificación se cumplió — ni de escalar y auditar la respuesta cuando no.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542032"/>
            <a:ext cx="411480" cy="41148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5420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248716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visibilidad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325880" y="2889504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sabe en tiempo real qué ronda está pendiente o vencida.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2286000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2542032"/>
            <a:ext cx="411480" cy="41148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5420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49440" y="248716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sin dueño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949440" y="2889504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aviso por mensaje se pierde; no hay responsable ni escalamiento.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233672"/>
            <a:ext cx="411480" cy="41148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2336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41788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trazabilidad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325880" y="4581144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evidencia horaria de quién verificó, cuándo y con qué resultado.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3977640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4233672"/>
            <a:ext cx="411480" cy="411480"/>
          </a:xfrm>
          <a:prstGeom prst="ellipse">
            <a:avLst/>
          </a:prstGeom>
          <a:solidFill>
            <a:srgbClr val="F9AB0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42336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49440" y="41788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que no encajan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949440" y="4581144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software clínico es caro y pesado; los sensores/wearables, costosos y con fricción.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México, casi 8 de cada 10 adultos mayores no reciben cuidados en su hogar (INEGI). El dolor operativo escala con la demografía.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CareSignal · Pitch ejecutivo · confidencial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8" name="TextBox 27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AHORA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envejecimiento y la escasez de cuidadores se cruzan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755648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761M → 1,600M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487168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de 65+ en el mundo, 2021→2050. De 1 en 11 a 1 en 6 (ONU DESA).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572768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28232" y="1755648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27.7%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46520" y="2487168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México será 60+ en 2050; hoy 17.1M (12.8%). En 2030 habrá más mayores que jóvenes (INEGI/CONAPO).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84048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−11M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22960" y="4572000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Déficit global de cuidadores para 2030 (OMS). La OCDE necesita +60% (13.5M) para 2040.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365760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384048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446520" y="4572000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Rotación de cuidadores en los primeros 100 días: la coordinación no puede depender de la memoria.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 más envejecidos hoy: Japón ~30% · Italia &gt;20% · Finlandia/Portugal/Grecia ~22% (PRB/WEF). La ola llega a LATAM — México lidera la transición.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ONU DESA · INEGI/CONAPO · OMS/OCDE · PRB/WEF (ver lámina de fuentes)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Box 18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DE MERCADO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· SAM · SOM — primera iteración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1051560" cy="1371600"/>
          </a:xfrm>
          <a:prstGeom prst="roundRect">
            <a:avLst>
              <a:gd name="adj" fmla="val 6957"/>
            </a:avLst>
          </a:prstGeom>
          <a:solidFill>
            <a:srgbClr val="1A73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1051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83080" y="173736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US$5.8B → ~US$12B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83080" y="2157984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 cuidado de largo plazo (LTC) global, 2024→2032, CAGR ~8.5%.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044952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044952"/>
            <a:ext cx="1051560" cy="1371600"/>
          </a:xfrm>
          <a:prstGeom prst="roundRect">
            <a:avLst>
              <a:gd name="adj" fmla="val 6957"/>
            </a:avLst>
          </a:prstGeom>
          <a:solidFill>
            <a:srgbClr val="00A6A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44952"/>
            <a:ext cx="1051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83080" y="3227832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México + LATAM hispano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83080" y="3648456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Residencias privadas + agencias de cuidado. Base MX: 819 residencias, ~85% privadas.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535424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535424"/>
            <a:ext cx="1051560" cy="1371600"/>
          </a:xfrm>
          <a:prstGeom prst="roundRect">
            <a:avLst>
              <a:gd name="adj" fmla="val 6957"/>
            </a:avLst>
          </a:prstGeom>
          <a:solidFill>
            <a:srgbClr val="34A85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535424"/>
            <a:ext cx="1051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83080" y="4718304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 México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83080" y="5138928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50–100 residencias privadas (~10–15% del segmento privado), vía pilotos. Por validar.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1554480"/>
            <a:ext cx="5513832" cy="4352544"/>
          </a:xfrm>
          <a:prstGeom prst="roundRect">
            <a:avLst>
              <a:gd name="adj" fmla="val 1681"/>
            </a:avLst>
          </a:prstGeom>
          <a:solidFill>
            <a:srgbClr val="15183A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lo calculamos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55080" y="2194560"/>
            <a:ext cx="5074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top-down: mercado global de software LTC (fuentes citadas).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bottom-up: unidades reales (residencias privadas MX) + agencias de cuidado, extensible a LATAM hispanohablante.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SOM: participación obtenible en el beachhead vía pilotos de 30 días.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ARPA e ingresos: hipótesis a validar en el piloto — no cifras comprometidas.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0533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iteración de mercado · cifras por validar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Grand View · Market.us · INEGI/DENUE (ver lámina de fuentes)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Box 24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flujo operacional, de la ronda al cierre auditable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773936" cy="1554480"/>
          </a:xfrm>
          <a:prstGeom prst="roundRect">
            <a:avLst>
              <a:gd name="adj" fmla="val 4706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2011680"/>
            <a:ext cx="402336" cy="402336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0116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3504" y="2514600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3504" y="283464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programada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04288" y="1828800"/>
            <a:ext cx="1554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423160" y="1828800"/>
            <a:ext cx="1773936" cy="1554480"/>
          </a:xfrm>
          <a:prstGeom prst="roundRect">
            <a:avLst>
              <a:gd name="adj" fmla="val 4706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2011680"/>
            <a:ext cx="402336" cy="402336"/>
          </a:xfrm>
          <a:prstGeom prst="ellipse">
            <a:avLst/>
          </a:prstGeom>
          <a:solidFill>
            <a:srgbClr val="F9AB00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0" y="20116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78024" y="2514600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78024" y="283464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/ red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78808" y="1828800"/>
            <a:ext cx="1554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297680" y="1828800"/>
            <a:ext cx="1773936" cy="1554480"/>
          </a:xfrm>
          <a:prstGeom prst="roundRect">
            <a:avLst>
              <a:gd name="adj" fmla="val 4706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3480" y="2011680"/>
            <a:ext cx="402336" cy="402336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0116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52544" y="2514600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52544" y="283464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· reasignar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53328" y="1828800"/>
            <a:ext cx="1554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172200" y="1828800"/>
            <a:ext cx="1773936" cy="1554480"/>
          </a:xfrm>
          <a:prstGeom prst="roundRect">
            <a:avLst>
              <a:gd name="adj" fmla="val 4706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0" y="2011680"/>
            <a:ext cx="402336" cy="402336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20116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27064" y="2514600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27064" y="283464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que requiere verificación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27848" y="1828800"/>
            <a:ext cx="1554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8046720" y="1828800"/>
            <a:ext cx="1773936" cy="1554480"/>
          </a:xfrm>
          <a:prstGeom prst="roundRect">
            <a:avLst>
              <a:gd name="adj" fmla="val 4706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32520" y="2011680"/>
            <a:ext cx="402336" cy="402336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30" name="Text 28"/>
          <p:cNvSpPr/>
          <p:nvPr/>
        </p:nvSpPr>
        <p:spPr>
          <a:xfrm>
            <a:off x="8732520" y="20116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101584" y="2514600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101584" y="283464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resultado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802368" y="1828800"/>
            <a:ext cx="1554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9921240" y="1828800"/>
            <a:ext cx="1773936" cy="1554480"/>
          </a:xfrm>
          <a:prstGeom prst="roundRect">
            <a:avLst>
              <a:gd name="adj" fmla="val 4706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607040" y="2011680"/>
            <a:ext cx="402336" cy="402336"/>
          </a:xfrm>
          <a:prstGeom prst="ellipse">
            <a:avLst/>
          </a:prstGeom>
          <a:solidFill>
            <a:srgbClr val="15183A"/>
          </a:solidFill>
          <a:ln/>
        </p:spPr>
      </p:sp>
      <p:sp>
        <p:nvSpPr>
          <p:cNvPr id="36" name="Text 34"/>
          <p:cNvSpPr/>
          <p:nvPr/>
        </p:nvSpPr>
        <p:spPr>
          <a:xfrm>
            <a:off x="10607040" y="20116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976104" y="2514600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976104" y="283464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resolver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370332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5183A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" y="37033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por diseño.  </a:t>
            </a:r>
            <a:pPr indent="0" marL="0">
              <a:buNone/>
            </a:pPr>
            <a:r>
              <a:rPr lang="en-US" sz="1350" dirty="0">
                <a:solidFill>
                  <a:srgbClr val="CF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acción registra actor + fecha + hora (append-only). Sin sensores, sin datos clínicos, en español y de bajo costo.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548640" y="47548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9808" y="48646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duplicados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749808" y="517550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alerta activa por ronda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315968" y="47548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17136" y="48646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Determinista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4517136" y="517550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reloj simulado, demo reproducible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8083296" y="47548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84464" y="48646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costo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8284464" y="517550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hardware ni backend pesado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CareSignal · Pitch ejecutivo · confidencial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52" name="TextBox 51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pantallas, un flujo — hoy funcionando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139696" cy="3566160"/>
          </a:xfrm>
          <a:prstGeom prst="roundRect">
            <a:avLst>
              <a:gd name="adj" fmla="val 3419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2139696" cy="640080"/>
          </a:xfrm>
          <a:prstGeom prst="roundRect">
            <a:avLst>
              <a:gd name="adj" fmla="val 11429"/>
            </a:avLst>
          </a:prstGeom>
          <a:solidFill>
            <a:srgbClr val="1A73E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57400"/>
            <a:ext cx="2139696" cy="2286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64208"/>
            <a:ext cx="195681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468880"/>
            <a:ext cx="1810512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verde/amarillo/rojo, rondas vencidas, alertas y tiempo de respuesta.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88920" y="1645920"/>
            <a:ext cx="2139696" cy="3566160"/>
          </a:xfrm>
          <a:prstGeom prst="roundRect">
            <a:avLst>
              <a:gd name="adj" fmla="val 3419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88920" y="1645920"/>
            <a:ext cx="2139696" cy="640080"/>
          </a:xfrm>
          <a:prstGeom prst="roundRect">
            <a:avLst>
              <a:gd name="adj" fmla="val 11429"/>
            </a:avLst>
          </a:prstGeom>
          <a:solidFill>
            <a:srgbClr val="EA4335"/>
          </a:solidFill>
          <a:ln/>
        </p:spPr>
      </p:sp>
      <p:sp>
        <p:nvSpPr>
          <p:cNvPr id="11" name="Shape 9"/>
          <p:cNvSpPr/>
          <p:nvPr/>
        </p:nvSpPr>
        <p:spPr>
          <a:xfrm>
            <a:off x="2788920" y="2057400"/>
            <a:ext cx="2139696" cy="2286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2880360" y="1664208"/>
            <a:ext cx="195681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rondas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53512" y="2468880"/>
            <a:ext cx="1810512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Cuidador (móvil): iniciar, completar, solicitar apoyo, aceptar alerta.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0" y="1645920"/>
            <a:ext cx="2139696" cy="3566160"/>
          </a:xfrm>
          <a:prstGeom prst="roundRect">
            <a:avLst>
              <a:gd name="adj" fmla="val 3419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1645920"/>
            <a:ext cx="2139696" cy="640080"/>
          </a:xfrm>
          <a:prstGeom prst="roundRect">
            <a:avLst>
              <a:gd name="adj" fmla="val 11429"/>
            </a:avLst>
          </a:prstGeom>
          <a:solidFill>
            <a:srgbClr val="F9AB00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0" y="2057400"/>
            <a:ext cx="2139696" cy="228600"/>
          </a:xfrm>
          <a:prstGeom prst="rect">
            <a:avLst/>
          </a:prstGeom>
          <a:solidFill>
            <a:srgbClr val="F9AB00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1664208"/>
            <a:ext cx="195681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93792" y="2468880"/>
            <a:ext cx="1810512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operativos ficticios: última/próxima ronda, alertas activas.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269480" y="1645920"/>
            <a:ext cx="2139696" cy="3566160"/>
          </a:xfrm>
          <a:prstGeom prst="roundRect">
            <a:avLst>
              <a:gd name="adj" fmla="val 3419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69480" y="1645920"/>
            <a:ext cx="2139696" cy="640080"/>
          </a:xfrm>
          <a:prstGeom prst="roundRect">
            <a:avLst>
              <a:gd name="adj" fmla="val 11429"/>
            </a:avLst>
          </a:prstGeom>
          <a:solidFill>
            <a:srgbClr val="34A853"/>
          </a:solidFill>
          <a:ln/>
        </p:spPr>
      </p:sp>
      <p:sp>
        <p:nvSpPr>
          <p:cNvPr id="21" name="Shape 19"/>
          <p:cNvSpPr/>
          <p:nvPr/>
        </p:nvSpPr>
        <p:spPr>
          <a:xfrm>
            <a:off x="7269480" y="2057400"/>
            <a:ext cx="2139696" cy="2286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2" name="Text 20"/>
          <p:cNvSpPr/>
          <p:nvPr/>
        </p:nvSpPr>
        <p:spPr>
          <a:xfrm>
            <a:off x="7360920" y="1664208"/>
            <a:ext cx="195681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34072" y="2468880"/>
            <a:ext cx="1810512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Origen, severidad, responsable, historial y línea de tiempo auditable.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509760" y="1645920"/>
            <a:ext cx="2139696" cy="3566160"/>
          </a:xfrm>
          <a:prstGeom prst="roundRect">
            <a:avLst>
              <a:gd name="adj" fmla="val 3419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09760" y="1645920"/>
            <a:ext cx="2139696" cy="640080"/>
          </a:xfrm>
          <a:prstGeom prst="roundRect">
            <a:avLst>
              <a:gd name="adj" fmla="val 11429"/>
            </a:avLst>
          </a:prstGeom>
          <a:solidFill>
            <a:srgbClr val="00A6A6"/>
          </a:solidFill>
          <a:ln/>
        </p:spPr>
      </p:sp>
      <p:sp>
        <p:nvSpPr>
          <p:cNvPr id="26" name="Shape 24"/>
          <p:cNvSpPr/>
          <p:nvPr/>
        </p:nvSpPr>
        <p:spPr>
          <a:xfrm>
            <a:off x="9509760" y="2057400"/>
            <a:ext cx="2139696" cy="228600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0" y="1664208"/>
            <a:ext cx="195681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demo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74352" y="2468880"/>
            <a:ext cx="1810512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Reloj simulado (+1/+5/+15 min), escenarios y reinicio.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53949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responsive · React + TypeScript estricto · sin backend en el MVP · datos ficticios.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CareSignal · Pitch ejecutivo · confidencial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Box 31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EN VIVO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se ve — la app en su residencia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88720" y="1417320"/>
            <a:ext cx="2240280" cy="4343400"/>
          </a:xfrm>
          <a:prstGeom prst="roundRect">
            <a:avLst>
              <a:gd name="adj" fmla="val 9796"/>
            </a:avLst>
          </a:prstGeom>
          <a:solidFill>
            <a:srgbClr val="20302B"/>
          </a:solidFill>
          <a:ln/>
        </p:spPr>
      </p:sp>
      <p:sp>
        <p:nvSpPr>
          <p:cNvPr id="5" name="Shape 3"/>
          <p:cNvSpPr/>
          <p:nvPr/>
        </p:nvSpPr>
        <p:spPr>
          <a:xfrm>
            <a:off x="1307592" y="1591056"/>
            <a:ext cx="2002536" cy="3995928"/>
          </a:xfrm>
          <a:prstGeom prst="roundRect">
            <a:avLst>
              <a:gd name="adj" fmla="val 7306"/>
            </a:avLst>
          </a:prstGeom>
          <a:solidFill>
            <a:srgbClr val="FBFDFC"/>
          </a:solidFill>
          <a:ln/>
        </p:spPr>
      </p:sp>
      <p:sp>
        <p:nvSpPr>
          <p:cNvPr id="6" name="Shape 4"/>
          <p:cNvSpPr/>
          <p:nvPr/>
        </p:nvSpPr>
        <p:spPr>
          <a:xfrm>
            <a:off x="2052828" y="1481328"/>
            <a:ext cx="512064" cy="109728"/>
          </a:xfrm>
          <a:prstGeom prst="roundRect">
            <a:avLst>
              <a:gd name="adj" fmla="val 50000"/>
            </a:avLst>
          </a:prstGeom>
          <a:solidFill>
            <a:srgbClr val="20302B"/>
          </a:solidFill>
          <a:ln/>
        </p:spPr>
      </p:sp>
      <p:sp>
        <p:nvSpPr>
          <p:cNvPr id="7" name="Shape 5"/>
          <p:cNvSpPr/>
          <p:nvPr/>
        </p:nvSpPr>
        <p:spPr>
          <a:xfrm>
            <a:off x="1307592" y="1591056"/>
            <a:ext cx="2002536" cy="566928"/>
          </a:xfrm>
          <a:prstGeom prst="roundRect">
            <a:avLst>
              <a:gd name="adj" fmla="val 22581"/>
            </a:avLst>
          </a:prstGeom>
          <a:solidFill>
            <a:srgbClr val="15183A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911096"/>
            <a:ext cx="2002536" cy="246888"/>
          </a:xfrm>
          <a:prstGeom prst="rect">
            <a:avLst/>
          </a:prstGeom>
          <a:solidFill>
            <a:srgbClr val="15183A"/>
          </a:solidFill>
          <a:ln/>
        </p:spPr>
      </p:sp>
      <p:sp>
        <p:nvSpPr>
          <p:cNvPr id="9" name="Text 7"/>
          <p:cNvSpPr/>
          <p:nvPr/>
        </p:nvSpPr>
        <p:spPr>
          <a:xfrm>
            <a:off x="1453896" y="1682496"/>
            <a:ext cx="170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· Turno AM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453896" y="2304288"/>
            <a:ext cx="521208" cy="603504"/>
          </a:xfrm>
          <a:prstGeom prst="roundRect">
            <a:avLst>
              <a:gd name="adj" fmla="val 14035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53896" y="2340864"/>
            <a:ext cx="521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53896" y="2651760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048256" y="2304288"/>
            <a:ext cx="521208" cy="603504"/>
          </a:xfrm>
          <a:prstGeom prst="roundRect">
            <a:avLst>
              <a:gd name="adj" fmla="val 14035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48256" y="2340864"/>
            <a:ext cx="521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48256" y="2651760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642616" y="2304288"/>
            <a:ext cx="521208" cy="603504"/>
          </a:xfrm>
          <a:prstGeom prst="roundRect">
            <a:avLst>
              <a:gd name="adj" fmla="val 14035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42616" y="2340864"/>
            <a:ext cx="521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42616" y="2651760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453896" y="3017520"/>
            <a:ext cx="1709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Requieren atención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453896" y="3273552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45336" y="3392424"/>
            <a:ext cx="219456" cy="219456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22" name="Text 20"/>
          <p:cNvSpPr/>
          <p:nvPr/>
        </p:nvSpPr>
        <p:spPr>
          <a:xfrm>
            <a:off x="1545336" y="3374136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56232" y="3273552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15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386584" y="3273552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vencida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453896" y="3803904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45336" y="3922776"/>
            <a:ext cx="219456" cy="219456"/>
          </a:xfrm>
          <a:prstGeom prst="ellipse">
            <a:avLst/>
          </a:prstGeom>
          <a:solidFill>
            <a:srgbClr val="F9AB00"/>
          </a:solidFill>
          <a:ln/>
        </p:spPr>
      </p:sp>
      <p:sp>
        <p:nvSpPr>
          <p:cNvPr id="27" name="Text 25"/>
          <p:cNvSpPr/>
          <p:nvPr/>
        </p:nvSpPr>
        <p:spPr>
          <a:xfrm>
            <a:off x="1545336" y="3904488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856232" y="3803904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08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386584" y="3803904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453896" y="4334256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45336" y="4453128"/>
            <a:ext cx="219456" cy="219456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32" name="Text 30"/>
          <p:cNvSpPr/>
          <p:nvPr/>
        </p:nvSpPr>
        <p:spPr>
          <a:xfrm>
            <a:off x="1545336" y="4434840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856232" y="4334256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12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386584" y="4334256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día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453896" y="4864608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45336" y="4983480"/>
            <a:ext cx="219456" cy="219456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7" name="Text 35"/>
          <p:cNvSpPr/>
          <p:nvPr/>
        </p:nvSpPr>
        <p:spPr>
          <a:xfrm>
            <a:off x="1545336" y="4965192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856232" y="4864608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20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386584" y="4864608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983480" y="1417320"/>
            <a:ext cx="2240280" cy="4343400"/>
          </a:xfrm>
          <a:prstGeom prst="roundRect">
            <a:avLst>
              <a:gd name="adj" fmla="val 9796"/>
            </a:avLst>
          </a:prstGeom>
          <a:solidFill>
            <a:srgbClr val="20302B"/>
          </a:solidFill>
          <a:ln/>
        </p:spPr>
      </p:sp>
      <p:sp>
        <p:nvSpPr>
          <p:cNvPr id="41" name="Shape 39"/>
          <p:cNvSpPr/>
          <p:nvPr/>
        </p:nvSpPr>
        <p:spPr>
          <a:xfrm>
            <a:off x="5102352" y="1591056"/>
            <a:ext cx="2002536" cy="3995928"/>
          </a:xfrm>
          <a:prstGeom prst="roundRect">
            <a:avLst>
              <a:gd name="adj" fmla="val 7306"/>
            </a:avLst>
          </a:prstGeom>
          <a:solidFill>
            <a:srgbClr val="FBFDFC"/>
          </a:solidFill>
          <a:ln/>
        </p:spPr>
      </p:sp>
      <p:sp>
        <p:nvSpPr>
          <p:cNvPr id="42" name="Shape 40"/>
          <p:cNvSpPr/>
          <p:nvPr/>
        </p:nvSpPr>
        <p:spPr>
          <a:xfrm>
            <a:off x="5847588" y="1481328"/>
            <a:ext cx="512064" cy="109728"/>
          </a:xfrm>
          <a:prstGeom prst="roundRect">
            <a:avLst>
              <a:gd name="adj" fmla="val 50000"/>
            </a:avLst>
          </a:prstGeom>
          <a:solidFill>
            <a:srgbClr val="20302B"/>
          </a:solidFill>
          <a:ln/>
        </p:spPr>
      </p:sp>
      <p:sp>
        <p:nvSpPr>
          <p:cNvPr id="43" name="Shape 41"/>
          <p:cNvSpPr/>
          <p:nvPr/>
        </p:nvSpPr>
        <p:spPr>
          <a:xfrm>
            <a:off x="5102352" y="1591056"/>
            <a:ext cx="2002536" cy="566928"/>
          </a:xfrm>
          <a:prstGeom prst="roundRect">
            <a:avLst>
              <a:gd name="adj" fmla="val 22581"/>
            </a:avLst>
          </a:prstGeom>
          <a:solidFill>
            <a:srgbClr val="34A853"/>
          </a:solidFill>
          <a:ln/>
        </p:spPr>
      </p:sp>
      <p:sp>
        <p:nvSpPr>
          <p:cNvPr id="44" name="Shape 42"/>
          <p:cNvSpPr/>
          <p:nvPr/>
        </p:nvSpPr>
        <p:spPr>
          <a:xfrm>
            <a:off x="5102352" y="1911096"/>
            <a:ext cx="2002536" cy="246888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45" name="Text 43"/>
          <p:cNvSpPr/>
          <p:nvPr/>
        </p:nvSpPr>
        <p:spPr>
          <a:xfrm>
            <a:off x="5248656" y="1682496"/>
            <a:ext cx="170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rondas · Turno AM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248656" y="2322576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40096" y="2441448"/>
            <a:ext cx="219456" cy="219456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48" name="Text 46"/>
          <p:cNvSpPr/>
          <p:nvPr/>
        </p:nvSpPr>
        <p:spPr>
          <a:xfrm>
            <a:off x="5340096" y="2423160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650992" y="2322576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Hidratación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181344" y="2322576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12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248656" y="2852928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40096" y="2971800"/>
            <a:ext cx="219456" cy="219456"/>
          </a:xfrm>
          <a:prstGeom prst="ellipse">
            <a:avLst/>
          </a:prstGeom>
          <a:solidFill>
            <a:srgbClr val="F9AB00"/>
          </a:solidFill>
          <a:ln/>
        </p:spPr>
      </p:sp>
      <p:sp>
        <p:nvSpPr>
          <p:cNvPr id="53" name="Text 51"/>
          <p:cNvSpPr/>
          <p:nvPr/>
        </p:nvSpPr>
        <p:spPr>
          <a:xfrm>
            <a:off x="5340096" y="2953512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650992" y="2852928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Movilidad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181344" y="2852928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08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248656" y="3383280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340096" y="3502152"/>
            <a:ext cx="219456" cy="219456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58" name="Text 56"/>
          <p:cNvSpPr/>
          <p:nvPr/>
        </p:nvSpPr>
        <p:spPr>
          <a:xfrm>
            <a:off x="5340096" y="3483864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650992" y="338328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Rutina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181344" y="338328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15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248656" y="3913632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340096" y="4032504"/>
            <a:ext cx="219456" cy="219456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63" name="Text 61"/>
          <p:cNvSpPr/>
          <p:nvPr/>
        </p:nvSpPr>
        <p:spPr>
          <a:xfrm>
            <a:off x="5340096" y="4014216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650992" y="3913632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Comida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181344" y="3913632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20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248656" y="4517136"/>
            <a:ext cx="1709928" cy="457200"/>
          </a:xfrm>
          <a:prstGeom prst="roundRect">
            <a:avLst>
              <a:gd name="adj" fmla="val 20000"/>
            </a:avLst>
          </a:prstGeom>
          <a:solidFill>
            <a:srgbClr val="34A853"/>
          </a:solidFill>
          <a:ln/>
        </p:spPr>
      </p:sp>
      <p:sp>
        <p:nvSpPr>
          <p:cNvPr id="67" name="Text 65"/>
          <p:cNvSpPr/>
          <p:nvPr/>
        </p:nvSpPr>
        <p:spPr>
          <a:xfrm>
            <a:off x="5248656" y="4517136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ronda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5248656" y="5047488"/>
            <a:ext cx="1709928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248656" y="5047488"/>
            <a:ext cx="170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apoyo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8778240" y="1417320"/>
            <a:ext cx="2240280" cy="4343400"/>
          </a:xfrm>
          <a:prstGeom prst="roundRect">
            <a:avLst>
              <a:gd name="adj" fmla="val 9796"/>
            </a:avLst>
          </a:prstGeom>
          <a:solidFill>
            <a:srgbClr val="20302B"/>
          </a:solidFill>
          <a:ln/>
        </p:spPr>
      </p:sp>
      <p:sp>
        <p:nvSpPr>
          <p:cNvPr id="71" name="Shape 69"/>
          <p:cNvSpPr/>
          <p:nvPr/>
        </p:nvSpPr>
        <p:spPr>
          <a:xfrm>
            <a:off x="8897112" y="1591056"/>
            <a:ext cx="2002536" cy="3995928"/>
          </a:xfrm>
          <a:prstGeom prst="roundRect">
            <a:avLst>
              <a:gd name="adj" fmla="val 7306"/>
            </a:avLst>
          </a:prstGeom>
          <a:solidFill>
            <a:srgbClr val="FBFDFC"/>
          </a:solidFill>
          <a:ln/>
        </p:spPr>
      </p:sp>
      <p:sp>
        <p:nvSpPr>
          <p:cNvPr id="72" name="Shape 70"/>
          <p:cNvSpPr/>
          <p:nvPr/>
        </p:nvSpPr>
        <p:spPr>
          <a:xfrm>
            <a:off x="9642348" y="1481328"/>
            <a:ext cx="512064" cy="109728"/>
          </a:xfrm>
          <a:prstGeom prst="roundRect">
            <a:avLst>
              <a:gd name="adj" fmla="val 50000"/>
            </a:avLst>
          </a:prstGeom>
          <a:solidFill>
            <a:srgbClr val="20302B"/>
          </a:solidFill>
          <a:ln/>
        </p:spPr>
      </p:sp>
      <p:sp>
        <p:nvSpPr>
          <p:cNvPr id="73" name="Shape 71"/>
          <p:cNvSpPr/>
          <p:nvPr/>
        </p:nvSpPr>
        <p:spPr>
          <a:xfrm>
            <a:off x="8897112" y="1591056"/>
            <a:ext cx="2002536" cy="566928"/>
          </a:xfrm>
          <a:prstGeom prst="roundRect">
            <a:avLst>
              <a:gd name="adj" fmla="val 22581"/>
            </a:avLst>
          </a:prstGeom>
          <a:solidFill>
            <a:srgbClr val="EA4335"/>
          </a:solidFill>
          <a:ln/>
        </p:spPr>
      </p:sp>
      <p:sp>
        <p:nvSpPr>
          <p:cNvPr id="74" name="Shape 72"/>
          <p:cNvSpPr/>
          <p:nvPr/>
        </p:nvSpPr>
        <p:spPr>
          <a:xfrm>
            <a:off x="8897112" y="1911096"/>
            <a:ext cx="2002536" cy="246888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75" name="Text 73"/>
          <p:cNvSpPr/>
          <p:nvPr/>
        </p:nvSpPr>
        <p:spPr>
          <a:xfrm>
            <a:off x="9043416" y="1682496"/>
            <a:ext cx="170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Evento a verificar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9043416" y="2340864"/>
            <a:ext cx="1709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 vencida · Hab 15</a:t>
            </a:r>
            <a:endParaRPr lang="en-US" sz="1250" dirty="0"/>
          </a:p>
        </p:txBody>
      </p:sp>
      <p:sp>
        <p:nvSpPr>
          <p:cNvPr id="77" name="Text 75"/>
          <p:cNvSpPr/>
          <p:nvPr/>
        </p:nvSpPr>
        <p:spPr>
          <a:xfrm>
            <a:off x="9043416" y="2615184"/>
            <a:ext cx="1709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Sr. R.  ·  severidad Roja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9043416" y="2962656"/>
            <a:ext cx="1709928" cy="960120"/>
          </a:xfrm>
          <a:prstGeom prst="roundRect">
            <a:avLst>
              <a:gd name="adj" fmla="val 7619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153144" y="3035808"/>
            <a:ext cx="14904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  Ronda programada
</a:t>
            </a:r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10:15  Vencida → alerta roja
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10:16  Sin responsable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9043416" y="4078224"/>
            <a:ext cx="1709928" cy="457200"/>
          </a:xfrm>
          <a:prstGeom prst="roundRect">
            <a:avLst>
              <a:gd name="adj" fmla="val 20000"/>
            </a:avLst>
          </a:prstGeom>
          <a:solidFill>
            <a:srgbClr val="00A6A6"/>
          </a:solidFill>
          <a:ln/>
        </p:spPr>
      </p:sp>
      <p:sp>
        <p:nvSpPr>
          <p:cNvPr id="81" name="Text 79"/>
          <p:cNvSpPr/>
          <p:nvPr/>
        </p:nvSpPr>
        <p:spPr>
          <a:xfrm>
            <a:off x="9043416" y="4078224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cuidador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9043416" y="4608576"/>
            <a:ext cx="170992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043416" y="4608576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a supervisor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845820" y="57790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del supervisor</a:t>
            </a:r>
            <a:endParaRPr lang="en-US" sz="1300" dirty="0"/>
          </a:p>
        </p:txBody>
      </p:sp>
      <p:sp>
        <p:nvSpPr>
          <p:cNvPr id="85" name="Text 83"/>
          <p:cNvSpPr/>
          <p:nvPr/>
        </p:nvSpPr>
        <p:spPr>
          <a:xfrm>
            <a:off x="845820" y="605332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residentes y alertas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4640580" y="57790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rondas (cuidador)</a:t>
            </a:r>
            <a:endParaRPr lang="en-US" sz="1300" dirty="0"/>
          </a:p>
        </p:txBody>
      </p:sp>
      <p:sp>
        <p:nvSpPr>
          <p:cNvPr id="87" name="Text 85"/>
          <p:cNvSpPr/>
          <p:nvPr/>
        </p:nvSpPr>
        <p:spPr>
          <a:xfrm>
            <a:off x="4640580" y="605332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Iniciar, completar, solicitar apoyo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8435340" y="57790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a verificar</a:t>
            </a:r>
            <a:endParaRPr lang="en-US" sz="1300" dirty="0"/>
          </a:p>
        </p:txBody>
      </p:sp>
      <p:sp>
        <p:nvSpPr>
          <p:cNvPr id="89" name="Text 87"/>
          <p:cNvSpPr/>
          <p:nvPr/>
        </p:nvSpPr>
        <p:spPr>
          <a:xfrm>
            <a:off x="8435340" y="605332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o escalar · auditable</a:t>
            </a:r>
            <a:endParaRPr lang="en-US" sz="1050" dirty="0"/>
          </a:p>
        </p:txBody>
      </p:sp>
      <p:sp>
        <p:nvSpPr>
          <p:cNvPr id="90" name="Text 88"/>
          <p:cNvSpPr/>
          <p:nvPr/>
        </p:nvSpPr>
        <p:spPr>
          <a:xfrm>
            <a:off x="9052560" y="457200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Mockups ilustrativos · datos ficticios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CareSignal · Pitch ejecutivo · confidencial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93" name="TextBox 92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TÉCNICA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liberado y verificado end-to-end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1627632"/>
          </a:xfrm>
          <a:prstGeom prst="roundRect">
            <a:avLst>
              <a:gd name="adj" fmla="val 4494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95528" y="240487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v0.1.0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C8 aprobado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15968" y="1600200"/>
            <a:ext cx="3566160" cy="1627632"/>
          </a:xfrm>
          <a:prstGeom prst="roundRect">
            <a:avLst>
              <a:gd name="adj" fmla="val 4494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44568" y="178308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62856" y="240487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con gate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revisión humana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83296" y="1600200"/>
            <a:ext cx="3566160" cy="1627632"/>
          </a:xfrm>
          <a:prstGeom prst="roundRect">
            <a:avLst>
              <a:gd name="adj" fmla="val 4494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11896" y="178308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330184" y="240487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aceptación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contrato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3566160" cy="1627632"/>
          </a:xfrm>
          <a:prstGeom prst="roundRect">
            <a:avLst>
              <a:gd name="adj" fmla="val 4494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56616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38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95528" y="418795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automatizadas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(vitest)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15968" y="3383280"/>
            <a:ext cx="3566160" cy="1627632"/>
          </a:xfrm>
          <a:prstGeom prst="roundRect">
            <a:avLst>
              <a:gd name="adj" fmla="val 4494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44568" y="356616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562856" y="418795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blocker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high corregido)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83296" y="3383280"/>
            <a:ext cx="3566160" cy="1627632"/>
          </a:xfrm>
          <a:prstGeom prst="roundRect">
            <a:avLst>
              <a:gd name="adj" fmla="val 4494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11896" y="356616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330184" y="418795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completo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523036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Construido con disciplina de contrato congelado y gobierno de cambios: prueba de capacidad de ejecución, no solo de idea. Datos de la semilla: 10 residentes · 4 personal · 20 rondas.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CareSignal · Pitch ejecutivo · confidencial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25" name="TextBox 24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Canvas — hipótesis a validar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159813" cy="3246120"/>
          </a:xfrm>
          <a:prstGeom prst="roundRect">
            <a:avLst>
              <a:gd name="adj" fmla="val 254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508760"/>
            <a:ext cx="1903781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Socios clave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94944" y="1965960"/>
            <a:ext cx="1885493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14300" indent="-1143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7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Residencias / agencias piloto</a:t>
            </a:r>
            <a:endParaRPr lang="en-US" sz="870" dirty="0"/>
          </a:p>
          <a:p>
            <a:pPr marL="114300" indent="-1143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7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WomenCISO · Google Cloud</a:t>
            </a:r>
            <a:endParaRPr lang="en-US" sz="870" dirty="0"/>
          </a:p>
          <a:p>
            <a:pPr marL="114300" indent="-1143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7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Aseguradoras y municipios (futuro)</a:t>
            </a:r>
            <a:endParaRPr lang="en-US" sz="870" dirty="0"/>
          </a:p>
        </p:txBody>
      </p:sp>
      <p:sp>
        <p:nvSpPr>
          <p:cNvPr id="7" name="Shape 5"/>
          <p:cNvSpPr/>
          <p:nvPr/>
        </p:nvSpPr>
        <p:spPr>
          <a:xfrm>
            <a:off x="2781605" y="1417320"/>
            <a:ext cx="2159813" cy="1586484"/>
          </a:xfrm>
          <a:prstGeom prst="roundRect">
            <a:avLst>
              <a:gd name="adj" fmla="val 3458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09621" y="1508760"/>
            <a:ext cx="1903781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clave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27909" y="1965960"/>
            <a:ext cx="1885493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14300" indent="-1143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7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operacional + QA por gates</a:t>
            </a:r>
            <a:endParaRPr lang="en-US" sz="870" dirty="0"/>
          </a:p>
          <a:p>
            <a:pPr marL="114300" indent="-1143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7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Pilotos y validación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2781605" y="3076956"/>
            <a:ext cx="2159813" cy="1586484"/>
          </a:xfrm>
          <a:prstGeom prst="roundRect">
            <a:avLst>
              <a:gd name="adj" fmla="val 3458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09621" y="3168396"/>
            <a:ext cx="1903781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clave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27909" y="3625596"/>
            <a:ext cx="1885493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14300" indent="-1143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7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auditable congelado</a:t>
            </a:r>
            <a:endParaRPr lang="en-US" sz="870" dirty="0"/>
          </a:p>
          <a:p>
            <a:pPr marL="114300" indent="-1143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7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producto + seguridad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5014570" y="1417320"/>
            <a:ext cx="2159813" cy="3246120"/>
          </a:xfrm>
          <a:prstGeom prst="roundRect">
            <a:avLst>
              <a:gd name="adj" fmla="val 2540"/>
            </a:avLst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42586" y="1508760"/>
            <a:ext cx="1903781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60874" y="1965960"/>
            <a:ext cx="1885493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14300" indent="-1143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7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en tiempo real del cumplimiento</a:t>
            </a:r>
            <a:endParaRPr lang="en-US" sz="870" dirty="0"/>
          </a:p>
          <a:p>
            <a:pPr marL="114300" indent="-1143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7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con dueño + escalamiento</a:t>
            </a:r>
            <a:endParaRPr lang="en-US" sz="870" dirty="0"/>
          </a:p>
          <a:p>
            <a:pPr marL="114300" indent="-1143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7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y auditoría completas</a:t>
            </a:r>
            <a:endParaRPr lang="en-US" sz="870" dirty="0"/>
          </a:p>
          <a:p>
            <a:pPr marL="114300" indent="-1143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7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costo, sin hardware, en español</a:t>
            </a:r>
            <a:endParaRPr lang="en-US" sz="870" dirty="0"/>
          </a:p>
          <a:p>
            <a:pPr marL="114300" indent="-1143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7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afirmaciones médicas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7247534" y="1417320"/>
            <a:ext cx="2159813" cy="1586484"/>
          </a:xfrm>
          <a:prstGeom prst="roundRect">
            <a:avLst>
              <a:gd name="adj" fmla="val 3458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75550" y="1508760"/>
            <a:ext cx="1903781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clientes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393838" y="1965960"/>
            <a:ext cx="1885493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14300" indent="-1143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7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acompañado 30 días</a:t>
            </a:r>
            <a:endParaRPr lang="en-US" sz="870" dirty="0"/>
          </a:p>
          <a:p>
            <a:pPr marL="114300" indent="-1143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7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+ soporte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7247534" y="3076956"/>
            <a:ext cx="2159813" cy="1586484"/>
          </a:xfrm>
          <a:prstGeom prst="roundRect">
            <a:avLst>
              <a:gd name="adj" fmla="val 3458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75550" y="3168396"/>
            <a:ext cx="1903781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93838" y="3625596"/>
            <a:ext cx="1885493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14300" indent="-1143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7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web responsive</a:t>
            </a:r>
            <a:endParaRPr lang="en-US" sz="870" dirty="0"/>
          </a:p>
          <a:p>
            <a:pPr marL="114300" indent="-1143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7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Pilotos dirigidos · alianzas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9480499" y="1417320"/>
            <a:ext cx="2159813" cy="3246120"/>
          </a:xfrm>
          <a:prstGeom prst="roundRect">
            <a:avLst>
              <a:gd name="adj" fmla="val 254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8515" y="1508760"/>
            <a:ext cx="1903781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 de clientes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26803" y="1965960"/>
            <a:ext cx="1885493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14300" indent="-1143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7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Residencias privadas (20–60 residentes)</a:t>
            </a:r>
            <a:endParaRPr lang="en-US" sz="870" dirty="0"/>
          </a:p>
          <a:p>
            <a:pPr marL="114300" indent="-1143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7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Agencias de cuidado domiciliario</a:t>
            </a:r>
            <a:endParaRPr lang="en-US" sz="870" dirty="0"/>
          </a:p>
          <a:p>
            <a:pPr marL="114300" indent="-1143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7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Usuarios: cuidadores y supervisores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548640" y="4773168"/>
            <a:ext cx="5509260" cy="1024128"/>
          </a:xfrm>
          <a:prstGeom prst="roundRect">
            <a:avLst>
              <a:gd name="adj" fmla="val 5357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" y="4864608"/>
            <a:ext cx="52532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costos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94944" y="5321808"/>
            <a:ext cx="52349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14300" indent="-1143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7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e ingeniería · cumplimiento y seguridad</a:t>
            </a:r>
            <a:endParaRPr lang="en-US" sz="870" dirty="0"/>
          </a:p>
          <a:p>
            <a:pPr marL="114300" indent="-1143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7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 integraciones (post-MVP) · ventas y soporte</a:t>
            </a:r>
            <a:endParaRPr lang="en-US" sz="870" dirty="0"/>
          </a:p>
          <a:p>
            <a:pPr marL="114300" indent="-1143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7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actual: costo mínimo — sin backend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6131052" y="4773168"/>
            <a:ext cx="5509260" cy="1024128"/>
          </a:xfrm>
          <a:prstGeom prst="roundRect">
            <a:avLst>
              <a:gd name="adj" fmla="val 5357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59068" y="4864608"/>
            <a:ext cx="52532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ingreso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77356" y="5321808"/>
            <a:ext cx="52349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14300" indent="-1143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7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por residencia / por plaza (hipótesis)</a:t>
            </a:r>
            <a:endParaRPr lang="en-US" sz="870" dirty="0"/>
          </a:p>
          <a:p>
            <a:pPr marL="114300" indent="-1143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7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 a agencias · patrocinio (etapas posteriores)</a:t>
            </a:r>
            <a:endParaRPr lang="en-US" sz="870" dirty="0"/>
          </a:p>
          <a:p>
            <a:pPr marL="114300" indent="-1143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7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MVP no genera ingresos — por validar en el piloto</a:t>
            </a:r>
            <a:endParaRPr lang="en-US" sz="870" dirty="0"/>
          </a:p>
        </p:txBody>
      </p:sp>
      <p:sp>
        <p:nvSpPr>
          <p:cNvPr id="31" name="Text 29"/>
          <p:cNvSpPr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Generation (Osterwalder &amp; Pigneur): el lienzo son hipótesis, no cifras comprometidas.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33" name="TextBox 32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Generation — 5 etapas aplicadas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19656"/>
            <a:ext cx="402336" cy="402336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196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600200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20440" y="1600200"/>
            <a:ext cx="7955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9 bloques ya mapeados (lámina anterior).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2734056"/>
            <a:ext cx="402336" cy="402336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7340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514600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0440" y="2514600"/>
            <a:ext cx="7955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multi-lateral (residencia paga, familia/aseguradora se benefician); potencial freemium para agencias pequeñas.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648456"/>
            <a:ext cx="402336" cy="402336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6484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429000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520440" y="3429000"/>
            <a:ext cx="7955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del cuidador, prototipo navegable y storytelling del flujo — validado con el MVP.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4562856"/>
            <a:ext cx="402336" cy="402336"/>
          </a:xfrm>
          <a:prstGeom prst="ellipse">
            <a:avLst/>
          </a:prstGeom>
          <a:solidFill>
            <a:srgbClr val="F9AB00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5628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4343400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20440" y="4343400"/>
            <a:ext cx="7955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favorable (demografía + escasez); foco beachhead México antes de escalar a LATAM.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257800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5477256"/>
            <a:ext cx="402336" cy="402336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4772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" y="5257800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520440" y="5257800"/>
            <a:ext cx="7955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Movilizar → Entender → Diseñar → Implementar → Gestionar. Hoy: entre Diseñar e Implementar (piloto).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Marco: Osterwalder &amp; Pigneur, Business Model Generation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1" name="TextBox 30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México primero, luego LATAM hispanohablante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1554480" cy="384048"/>
          </a:xfrm>
          <a:prstGeom prst="roundRect">
            <a:avLst>
              <a:gd name="adj" fmla="val 23810"/>
            </a:avLst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95528" y="2926080"/>
            <a:ext cx="3154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Pilotos de 30 días en residencias privadas (20–60 residentes) en los 9 estados que concentran el 64% del sector privado.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0" y="1645920"/>
            <a:ext cx="201168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15968" y="164592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44568" y="1874520"/>
            <a:ext cx="1554480" cy="384048"/>
          </a:xfrm>
          <a:prstGeom prst="roundRect">
            <a:avLst>
              <a:gd name="adj" fmla="val 23810"/>
            </a:avLst>
          </a:prstGeom>
          <a:solidFill>
            <a:srgbClr val="F9AB00"/>
          </a:solidFill>
          <a:ln/>
        </p:spPr>
      </p:sp>
      <p:sp>
        <p:nvSpPr>
          <p:cNvPr id="12" name="Text 10"/>
          <p:cNvSpPr/>
          <p:nvPr/>
        </p:nvSpPr>
        <p:spPr>
          <a:xfrm>
            <a:off x="4544568" y="18745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44568" y="2423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Densificar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62856" y="2926080"/>
            <a:ext cx="3154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pilotos en suscripción; sumar agencias de cuidado domiciliario y reportes de turno.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882128" y="1645920"/>
            <a:ext cx="201168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83296" y="164592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11896" y="1874520"/>
            <a:ext cx="1554480" cy="384048"/>
          </a:xfrm>
          <a:prstGeom prst="roundRect">
            <a:avLst>
              <a:gd name="adj" fmla="val 23810"/>
            </a:avLst>
          </a:prstGeom>
          <a:solidFill>
            <a:srgbClr val="1A73E8"/>
          </a:solidFill>
          <a:ln/>
        </p:spPr>
      </p:sp>
      <p:sp>
        <p:nvSpPr>
          <p:cNvPr id="18" name="Text 16"/>
          <p:cNvSpPr/>
          <p:nvPr/>
        </p:nvSpPr>
        <p:spPr>
          <a:xfrm>
            <a:off x="8311896" y="18745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311896" y="2423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30184" y="2926080"/>
            <a:ext cx="3154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Replicar en LATAM hispanohablante; alianzas con aseguradoras y municipios.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Motor: venta directa a directores de residencia + alianzas de sector. Métrica del piloto: reducción de omisiones y tiempo de respuesta.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CareSignal · Pitch ejecutivo · confidencial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4" name="TextBox 23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Dolores que hoy nadie cubre bien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status quo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Papel, hojas de cálculo, WhatsApp y memoria — sin trazabilidad.</a:t>
            </a:r>
            <a:endParaRPr lang="en-US" sz="128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clínico / EHR: caro, pesado y sobredimensionado.</a:t>
            </a:r>
            <a:endParaRPr lang="en-US" sz="128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y wearables: costo alto y fricción de adopción.</a:t>
            </a:r>
            <a:endParaRPr lang="en-US" sz="128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centrado en el flujo operacional auditable de rondas.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EAF6E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7556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cuña de CareSignal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24028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horaria y auditoría append-only por diseño.</a:t>
            </a:r>
            <a:endParaRPr lang="en-US" sz="128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de alertas + escalamiento con historial.</a:t>
            </a:r>
            <a:endParaRPr lang="en-US" sz="128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costo, sin hardware, en español — adopción rápida.</a:t>
            </a:r>
            <a:endParaRPr lang="en-US" sz="128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Enfocado en operación, no en diagnóstico clínico.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548640" y="58521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Posicionamiento: la capa operacional ligera entre el papel y el software clínico costoso.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CareSignal · Pitch ejecutivo · confidencial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3" name="TextBox 12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Ahora, después y futuro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67128"/>
            <a:ext cx="3566160" cy="23774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1907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148840" y="1719072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v0.1.0 · liberado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2606040"/>
            <a:ext cx="310896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Rondas y estados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yellow / red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Reloj simulado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15968" y="169164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15968" y="1691640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F9AB00"/>
          </a:solidFill>
          <a:ln/>
        </p:spPr>
      </p:sp>
      <p:sp>
        <p:nvSpPr>
          <p:cNvPr id="12" name="Shape 10"/>
          <p:cNvSpPr/>
          <p:nvPr/>
        </p:nvSpPr>
        <p:spPr>
          <a:xfrm>
            <a:off x="4315968" y="2167128"/>
            <a:ext cx="3566160" cy="237744"/>
          </a:xfrm>
          <a:prstGeom prst="rect">
            <a:avLst/>
          </a:prstGeom>
          <a:solidFill>
            <a:srgbClr val="F9AB00"/>
          </a:solidFill>
          <a:ln/>
        </p:spPr>
      </p:sp>
      <p:sp>
        <p:nvSpPr>
          <p:cNvPr id="13" name="Text 11"/>
          <p:cNvSpPr/>
          <p:nvPr/>
        </p:nvSpPr>
        <p:spPr>
          <a:xfrm>
            <a:off x="4544568" y="171907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16168" y="1719072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v0.2 · post-piloto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2606040"/>
            <a:ext cx="310896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/ NFC en rondas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internas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familiar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de turno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83296" y="169164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83296" y="1691640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1A73E8"/>
          </a:solidFill>
          <a:ln/>
        </p:spPr>
      </p:sp>
      <p:sp>
        <p:nvSpPr>
          <p:cNvPr id="18" name="Shape 16"/>
          <p:cNvSpPr/>
          <p:nvPr/>
        </p:nvSpPr>
        <p:spPr>
          <a:xfrm>
            <a:off x="8083296" y="2167128"/>
            <a:ext cx="3566160" cy="23774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9" name="Text 17"/>
          <p:cNvSpPr/>
          <p:nvPr/>
        </p:nvSpPr>
        <p:spPr>
          <a:xfrm>
            <a:off x="8311896" y="171907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Futuro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683496" y="1719072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39328" y="2606040"/>
            <a:ext cx="310896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y wearables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de actividad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Aseguradoras / municipios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CareSignal · Pitch ejecutivo · confidencial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24" name="TextBox 23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NOSOTROS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con gobierno, no solo una idea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20240"/>
            <a:ext cx="457200" cy="45720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90195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congelado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17320" y="233172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Alcance, taxonomía y reglas fijas; ningún cambio avanza sin aprobación humana.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4592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28232" y="1920240"/>
            <a:ext cx="457200" cy="45720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40880" y="190195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por gates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040880" y="233172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fases, cada una auditada — disciplina de release probada.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3840480"/>
            <a:ext cx="457200" cy="45720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82219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auditable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417320" y="425196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de estados pura, sin datos clínicos ni afirmaciones médicas.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56616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28232" y="3840480"/>
            <a:ext cx="457200" cy="457200"/>
          </a:xfrm>
          <a:prstGeom prst="ellipse">
            <a:avLst/>
          </a:prstGeom>
          <a:solidFill>
            <a:srgbClr val="F9AB00"/>
          </a:solidFill>
          <a:ln/>
        </p:spPr>
      </p:sp>
      <p:sp>
        <p:nvSpPr>
          <p:cNvPr id="21" name="Text 19"/>
          <p:cNvSpPr/>
          <p:nvPr/>
        </p:nvSpPr>
        <p:spPr>
          <a:xfrm>
            <a:off x="6428232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40880" y="382219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 seguridad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040880" y="425196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 en WomenCISO · Google Cloud: privacidad y trazabilidad por diseño.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equipo y estructura societaria por definir en la ronda; el MVP demuestra capacidad de ejecución.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CareSignal · Pitch ejecutivo · confidencial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27" name="TextBox 26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DE ALCANCE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— y qué no 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EAF6E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470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operacional de demostración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Rondas, alertas, escalamiento y auditoría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100% ficticios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responsive, bajo costo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Accesible (texto + ícono, no solo color)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FCECEA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470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NO es (todavía)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dispositivo médico ni diagnóstico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sensores, wearables ni cámaras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backend ni datos reales aún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notificaciones externas (911/SMS/WhatsApp)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de mercado: primera iteración, por validar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honestidad de alcance es una ventaja: reduce riesgo regulatorio y acelera el piloto.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CareSignal · Pitch ejecutivo · confidencial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13" name="TextBox 12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114800"/>
            <a:ext cx="4023360" cy="4023360"/>
          </a:xfrm>
          <a:prstGeom prst="ellipse">
            <a:avLst/>
          </a:prstGeom>
          <a:solidFill>
            <a:srgbClr val="242A5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E9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PETICIÓN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Autorizar y financiar el piloto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242A55"/>
          </a:solidFill>
          <a:ln w="19050">
            <a:solidFill>
              <a:srgbClr val="34A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48840"/>
            <a:ext cx="1554480" cy="384048"/>
          </a:xfrm>
          <a:prstGeom prst="roundRect">
            <a:avLst>
              <a:gd name="adj" fmla="val 23810"/>
            </a:avLst>
          </a:prstGeom>
          <a:solidFill>
            <a:srgbClr val="34A85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488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4672" y="27432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F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residencias en México, 30 días, con métricas de omisiones y tiempo de respuesta.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15968" y="1920240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242A55"/>
          </a:solidFill>
          <a:ln w="19050">
            <a:solidFill>
              <a:srgbClr val="1A7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44568" y="2148840"/>
            <a:ext cx="1554480" cy="384048"/>
          </a:xfrm>
          <a:prstGeom prst="roundRect">
            <a:avLst>
              <a:gd name="adj" fmla="val 23810"/>
            </a:avLst>
          </a:prstGeom>
          <a:solidFill>
            <a:srgbClr val="1A73E8"/>
          </a:solidFill>
          <a:ln/>
        </p:spPr>
      </p:sp>
      <p:sp>
        <p:nvSpPr>
          <p:cNvPr id="11" name="Text 9"/>
          <p:cNvSpPr/>
          <p:nvPr/>
        </p:nvSpPr>
        <p:spPr>
          <a:xfrm>
            <a:off x="4544568" y="21488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7432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F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MVP a v0.2: backend ligero, cuentas reales y reportes de turno.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83296" y="1920240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242A55"/>
          </a:solidFill>
          <a:ln w="19050">
            <a:solidFill>
              <a:srgbClr val="F9AB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11896" y="2148840"/>
            <a:ext cx="1554480" cy="384048"/>
          </a:xfrm>
          <a:prstGeom prst="roundRect">
            <a:avLst>
              <a:gd name="adj" fmla="val 23810"/>
            </a:avLst>
          </a:prstGeom>
          <a:solidFill>
            <a:srgbClr val="F9AB00"/>
          </a:solidFill>
          <a:ln/>
        </p:spPr>
      </p:sp>
      <p:sp>
        <p:nvSpPr>
          <p:cNvPr id="15" name="Text 13"/>
          <p:cNvSpPr/>
          <p:nvPr/>
        </p:nvSpPr>
        <p:spPr>
          <a:xfrm>
            <a:off x="8311896" y="21488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339328" y="27432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F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ARPA y SAM/SOM con datos del piloto; preparar expansión LATAM.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52628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242A55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52628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buscada.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F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“sí” al piloto y a la ronda semilla para convertir un MVP validado en un producto comercial, montado sobre una ola demográfica de décadas.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9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CareSignal · pitch ejecutivo · primera iteración de mercado (cifras por validar) · MVP con datos ficticios</a:t>
            </a:r>
            <a:endParaRPr lang="en-US" sz="950" dirty="0"/>
          </a:p>
        </p:txBody>
      </p:sp>
      <p:sp>
        <p:nvSpPr>
          <p:cNvPr id="20" name="TextBox 19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Y NOTAS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mercado y demografía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1672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ONU DESA — población 65+ mundial 761M (2021) → 1,600M (2050); de 1 en 11 a 1 en 6.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INEGI / CONAPO / INAPAM — México: 17.1M adultos mayores (12.8%); 60+ = 27.7% en 2050; más mayores que jóvenes hacia 2030.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INEGI / DENUE — 819 asilos y residencias en México, ~85% privadas; 64% en 9 estados.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 / OCDE — déficit global de 11M cuidadores para 2030; +60% (13.5M) en la OCDE para 2040; rotación 70–80%.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PRB / WEF / Statista — países más envejecidos: Japón ~30%, Italia &gt;20%, Finlandia/Portugal/Grecia ~22%, Mónaco ~36%.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View Research / Market.us — software de cuidado de largo plazo: US$5.8B (2024) → ~US$12B (2032), CAGR ~8.5%.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View / DataBridge — mercado de elder care global ~US$0.9–1.9T (según metodología).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TAM/SAM/SOM y proyecciones son una primera iteración con fines de discusión; ARPA e ingresos se validan en el piloto. Rangos de mercado varían por fuente y metodología.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Box 6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CareSignal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CareSignal — Pitch ejecutivo</dc:title>
  <dc:subject>CareSignal — modelo creado por Roberto García</dc:subject>
  <dc:creator>Roberto García</dc:creator>
  <cp:lastModifiedBy>Roberto García</cp:lastModifiedBy>
  <cp:revision>1</cp:revision>
  <dcterms:created xsi:type="dcterms:W3CDTF">2026-07-20T14:29:21Z</dcterms:created>
  <dcterms:modified xsi:type="dcterms:W3CDTF">2026-07-20T14:29:21Z</dcterms:modified>
  <cp:category>Presentación ejecutiva</cp:category>
  <cp:contentStatus>Confidencial</cp:contentStatus>
  <dc:description>© 2026 Roberto García. Todos los derechos reservados. Contacto: linkedin.com/in/robertogarciaits · robertogarciaits@gmail.com · 844 588 1313</dc:description>
  <cp:keywords>CareSignal, Roberto García, cuidado adulto mayor, pitch</cp:keywords>
  <dc:language>es-MX</dc:language>
</cp:coreProperties>
</file>