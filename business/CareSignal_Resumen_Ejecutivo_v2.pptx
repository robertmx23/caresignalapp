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937760" cy="4937760"/>
          </a:xfrm>
          <a:prstGeom prst="ellipse">
            <a:avLst/>
          </a:prstGeom>
          <a:solidFill>
            <a:srgbClr val="24335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357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280160"/>
            <a:ext cx="164592" cy="164592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28016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80160"/>
            <a:ext cx="164592" cy="164592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7" name="Shape 5"/>
          <p:cNvSpPr/>
          <p:nvPr/>
        </p:nvSpPr>
        <p:spPr>
          <a:xfrm>
            <a:off x="1444752" y="128016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plataforma. Tres mercados.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rondas, alertas y escalamiento con auditoría — para el cuidado del adulto mayor en residencias y en el hogar.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LIBERADO — 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síntesis para dirección, socios y consejo · Roberto García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13258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9992" y="14996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5228" y="13898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079992" y="14996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7223F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9992" y="1819656"/>
            <a:ext cx="2002536" cy="246888"/>
          </a:xfrm>
          <a:prstGeom prst="rect">
            <a:avLst/>
          </a:prstGeom>
          <a:solidFill>
            <a:srgbClr val="17223F"/>
          </a:solidFill>
          <a:ln/>
        </p:spPr>
      </p:sp>
      <p:sp>
        <p:nvSpPr>
          <p:cNvPr id="20" name="Text 18"/>
          <p:cNvSpPr/>
          <p:nvPr/>
        </p:nvSpPr>
        <p:spPr>
          <a:xfrm>
            <a:off x="9226296" y="15910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2629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2629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82065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2065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1501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1501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1501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226296" y="292608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26296" y="318211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17736" y="3300984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3" name="Text 31"/>
          <p:cNvSpPr/>
          <p:nvPr/>
        </p:nvSpPr>
        <p:spPr>
          <a:xfrm>
            <a:off x="9317736" y="328269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28632" y="318211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158984" y="318211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226296" y="371246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17736" y="3831336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81304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28632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158984" y="371246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26296" y="424281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17736" y="436168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3" name="Text 41"/>
          <p:cNvSpPr/>
          <p:nvPr/>
        </p:nvSpPr>
        <p:spPr>
          <a:xfrm>
            <a:off x="9317736" y="434340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28632" y="424281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158984" y="4242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226296" y="477316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17736" y="4892040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8" name="Text 46"/>
          <p:cNvSpPr/>
          <p:nvPr/>
        </p:nvSpPr>
        <p:spPr>
          <a:xfrm>
            <a:off x="9317736" y="487375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628632" y="477316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158984" y="477316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51" name="TextBox 50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dolor operativo sobre una ola demográfica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 del adulto mayor se coordina con papel, mensajes y memoria — sin visibilidad ni evidencia. Y la demanda crece de forma estructural durante décadas.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761M → 1,600M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5528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65+ en el mundo, 2021→2050 (ONU DESA).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62856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México será 60+ en 2050; hoy 17.1M (INEGI/CONAPO).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30184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global de cuidadores para 2030 (OMS).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alertar, escalar y comprobar la respuesta en un flujo simple y auditable — sin sustituir al personal ni hacer afirmaciones médicas. Un mismo motor sirve a residencias, a familias y a la tesis de inversión.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operacional, de la ronda al cierre auditable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11680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011680"/>
            <a:ext cx="402336" cy="40233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802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802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 / roja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7880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011680"/>
            <a:ext cx="402336" cy="40233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5254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responsable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011680"/>
            <a:ext cx="402336" cy="402336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2706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2706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personal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2784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4672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2011680"/>
            <a:ext cx="402336" cy="40233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0158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0158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resultado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0236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212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2011680"/>
            <a:ext cx="402336" cy="402336"/>
          </a:xfrm>
          <a:prstGeom prst="ellipse">
            <a:avLst/>
          </a:prstGeom>
          <a:solidFill>
            <a:srgbClr val="17223F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70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761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7610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703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703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por diseño.  </a:t>
            </a:r>
            <a:pPr indent="0" marL="0">
              <a:buNone/>
            </a:pPr>
            <a:r>
              <a:rPr lang="en-US" sz="13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 actor + fecha + hora (append-only). Sin sensores, sin datos clínicos, bajo costo, en español.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48640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9808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alerta activa por ronda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15968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7136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17136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reproducible en &lt; 5 min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083296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464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284464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imposible de perder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TextBox 5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— hoy funcionando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6" name="Shape 4"/>
          <p:cNvSpPr/>
          <p:nvPr/>
        </p:nvSpPr>
        <p:spPr>
          <a:xfrm>
            <a:off x="205282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7223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911096"/>
            <a:ext cx="2002536" cy="246888"/>
          </a:xfrm>
          <a:prstGeom prst="rect">
            <a:avLst/>
          </a:prstGeom>
          <a:solidFill>
            <a:srgbClr val="17223F"/>
          </a:solidFill>
          <a:ln/>
        </p:spPr>
      </p:sp>
      <p:sp>
        <p:nvSpPr>
          <p:cNvPr id="9" name="Text 7"/>
          <p:cNvSpPr/>
          <p:nvPr/>
        </p:nvSpPr>
        <p:spPr>
          <a:xfrm>
            <a:off x="145389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5389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5389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4261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4261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53896" y="301752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53896" y="327355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3392424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1545336" y="33741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56232" y="3273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86584" y="327355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53896" y="380390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3922776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27" name="Text 25"/>
          <p:cNvSpPr/>
          <p:nvPr/>
        </p:nvSpPr>
        <p:spPr>
          <a:xfrm>
            <a:off x="1545336" y="390448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56232" y="380390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86584" y="380390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53896" y="433425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5336" y="445312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1545336" y="443484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43342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86584" y="433425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53896" y="486460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4983480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1545336" y="496519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56232" y="486460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6584" y="48646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348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10235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758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0235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5102352" y="1911096"/>
            <a:ext cx="2002536" cy="24688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5" name="Text 43"/>
          <p:cNvSpPr/>
          <p:nvPr/>
        </p:nvSpPr>
        <p:spPr>
          <a:xfrm>
            <a:off x="524865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· Turno 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48656" y="232257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40096" y="244144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8" name="Text 46"/>
          <p:cNvSpPr/>
          <p:nvPr/>
        </p:nvSpPr>
        <p:spPr>
          <a:xfrm>
            <a:off x="5340096" y="242316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232257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81344" y="232257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48656" y="285292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2971800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</p:sp>
      <p:sp>
        <p:nvSpPr>
          <p:cNvPr id="53" name="Text 51"/>
          <p:cNvSpPr/>
          <p:nvPr/>
        </p:nvSpPr>
        <p:spPr>
          <a:xfrm>
            <a:off x="5340096" y="295351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28529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81344" y="28529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48656" y="338328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3502152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8" name="Text 56"/>
          <p:cNvSpPr/>
          <p:nvPr/>
        </p:nvSpPr>
        <p:spPr>
          <a:xfrm>
            <a:off x="5340096" y="348386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50992" y="33832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81344" y="3383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48656" y="391363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4032504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3" name="Text 61"/>
          <p:cNvSpPr/>
          <p:nvPr/>
        </p:nvSpPr>
        <p:spPr>
          <a:xfrm>
            <a:off x="5340096" y="401421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50992" y="391363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81344" y="391363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48656" y="451713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</p:sp>
      <p:sp>
        <p:nvSpPr>
          <p:cNvPr id="67" name="Text 65"/>
          <p:cNvSpPr/>
          <p:nvPr/>
        </p:nvSpPr>
        <p:spPr>
          <a:xfrm>
            <a:off x="5248656" y="451713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ronda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248656" y="5047488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48656" y="5047488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apoyo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77824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71" name="Shape 69"/>
          <p:cNvSpPr/>
          <p:nvPr/>
        </p:nvSpPr>
        <p:spPr>
          <a:xfrm>
            <a:off x="889711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72" name="Shape 70"/>
          <p:cNvSpPr/>
          <p:nvPr/>
        </p:nvSpPr>
        <p:spPr>
          <a:xfrm>
            <a:off x="964234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3" name="Shape 71"/>
          <p:cNvSpPr/>
          <p:nvPr/>
        </p:nvSpPr>
        <p:spPr>
          <a:xfrm>
            <a:off x="889711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EA4335"/>
          </a:solidFill>
          <a:ln/>
        </p:spPr>
      </p:sp>
      <p:sp>
        <p:nvSpPr>
          <p:cNvPr id="74" name="Shape 72"/>
          <p:cNvSpPr/>
          <p:nvPr/>
        </p:nvSpPr>
        <p:spPr>
          <a:xfrm>
            <a:off x="8897112" y="1911096"/>
            <a:ext cx="2002536" cy="24688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5" name="Text 73"/>
          <p:cNvSpPr/>
          <p:nvPr/>
        </p:nvSpPr>
        <p:spPr>
          <a:xfrm>
            <a:off x="904341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Evento a verificar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043416" y="234086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vencida · Hab 15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043416" y="2615184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R.  ·  severidad Roja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043416" y="2962656"/>
            <a:ext cx="1709928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53144" y="3035808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 Ronda programada
</a:t>
            </a:r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 Vencida → alerta roja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10:16  Sin responsable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043416" y="4078224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0E9E8F"/>
          </a:solidFill>
          <a:ln/>
        </p:spPr>
      </p:sp>
      <p:sp>
        <p:nvSpPr>
          <p:cNvPr id="81" name="Text 79"/>
          <p:cNvSpPr/>
          <p:nvPr/>
        </p:nvSpPr>
        <p:spPr>
          <a:xfrm>
            <a:off x="9043416" y="40782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cuidador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043416" y="460857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43416" y="46085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supervisor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4582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4582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residentes y alertas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64058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(cuidador)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64058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Iniciar, completar, solicitar apoyo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43534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 verificar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43534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o escalar · auditable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052560" y="45720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ilustrativos · datos ficticios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2" name="TextBox 9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plataforma, tres líneas de negocio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566160" cy="3200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director de residencia.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verificable de rondas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por residencia / por plaza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listo para piloto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PILOTO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0E9E8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5968" y="2148840"/>
            <a:ext cx="3566160" cy="320040"/>
          </a:xfrm>
          <a:prstGeom prst="rect">
            <a:avLst/>
          </a:prstGeom>
          <a:solidFill>
            <a:srgbClr val="0E9E8F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en Casa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hijos que cuidan a distancia.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y coordinación familiar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por hogar (ángulo remesas)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concepto — requiere v0.2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4568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0E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v0.2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83296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A73E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83296" y="2148840"/>
            <a:ext cx="3566160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8311896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11896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11896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inversionistas y consejo.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0184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demográfica + MVP probado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software LTC ~US$12B (2032)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Pedido: piloto + ronda semilla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11896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1A73E8"/>
          </a:solidFill>
          <a:ln/>
        </p:spPr>
      </p:sp>
      <p:sp>
        <p:nvSpPr>
          <p:cNvPr id="30" name="Text 28"/>
          <p:cNvSpPr/>
          <p:nvPr/>
        </p:nvSpPr>
        <p:spPr>
          <a:xfrm>
            <a:off x="8311896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 — primera iteración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US$5.8B → ~US$12B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1579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cuidado de largo plazo (LTC) global, 2024→2032, CAGR ~8.5%.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44952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0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44952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+ LATAM hispano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privadas + agencias de cuidado. Base MX: 819 residencias, ~85% privadas.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35424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7183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México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1389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residencias privadas (~10–15% del segmento) vía pilotos. Por validar.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468112" cy="4379976"/>
          </a:xfrm>
          <a:prstGeom prst="roundRect">
            <a:avLst>
              <a:gd name="adj" fmla="val 1670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momento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acelerado en México y LATAM.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estructural de cuidadores (OMS: −11M a 2030).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que cuidan a distancia buscan tranquilidad.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trazabilidad y cumplimiento en el sector.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línea (familias) amplía el mercado direccionable.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iteración de mercado · cifras por validar en el piloto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 cada línea — hipótesis a validar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A73E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566160" cy="2011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 trazabilidad del cuidado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dueño + escalamiento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costo, sin hardware, en español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34A853"/>
          </a:solidFill>
          <a:ln/>
        </p:spPr>
      </p:sp>
      <p:sp>
        <p:nvSpPr>
          <p:cNvPr id="11" name="Shape 9"/>
          <p:cNvSpPr/>
          <p:nvPr/>
        </p:nvSpPr>
        <p:spPr>
          <a:xfrm>
            <a:off x="4315968" y="2148840"/>
            <a:ext cx="3566160" cy="20116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Residencias: SaaS por plaza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Familias: freemium por hogar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B2B2C: comisión / licencia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9AB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148840"/>
            <a:ext cx="3566160" cy="201168"/>
          </a:xfrm>
          <a:prstGeom prst="rect">
            <a:avLst/>
          </a:prstGeom>
          <a:solidFill>
            <a:srgbClr val="F9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costo mínimo, sin backend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Post-MVP: cloud e integraciones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Cumplimiento, ventas y soporte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 (Osterwalder &amp; Pigneur).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lienzo son hipótesis; el MVP no genera ingresos y las cifras se validan en el piloto.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liberado y verificado end-to-end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5528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v0.1.0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C8 aprobado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62856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 gate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revisión humana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30184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contrato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5528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15968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62856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blocker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high corregido)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83296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1896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30184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completo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3036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disciplina de contrato congelado y gobierno de cambios por gates: prueba de capacidad de ejecución, no solo de idea.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después y futuro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67128"/>
            <a:ext cx="3566160" cy="23774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· liberado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y estados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amarilla / roja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y auditoría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simulado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9AB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5968" y="2167128"/>
            <a:ext cx="3566160" cy="237744"/>
          </a:xfrm>
          <a:prstGeom prst="rect">
            <a:avLst/>
          </a:prstGeom>
          <a:solidFill>
            <a:srgbClr val="F9AB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16168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· post-piloto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(SMS/WhatsApp)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Familias en Casa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familiar · reportes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1A73E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3296" y="2167128"/>
            <a:ext cx="3566160" cy="23774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83496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9328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y wearables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de sector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 / municipios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Familias (B2C) requiere una nueva versión del contrato (v0.2): notificaciones externas y multi-hogar.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— y qué no 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AF6E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 de demostración, liberado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Rondas, alertas, escalamiento y auditoría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100% ficticios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responsive, bajo costo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(texto + ícono, no solo color)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CECEA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es (todavía)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 ni diagnóstico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sensores, wearables ni cámaras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detección de caídas ni signos vitales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backend ni datos reales aún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primera iteración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honestidad de alcance reduce riesgo regulatorio y acelera la validación — dentro y fuera de la residencia.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0"/>
            <a:ext cx="4023360" cy="4023360"/>
          </a:xfrm>
          <a:prstGeom prst="ellipse">
            <a:avLst/>
          </a:prstGeom>
          <a:solidFill>
            <a:srgbClr val="2433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MVP probado al mercado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un piloto de 30 días en 3–5 residencias, con métricas de omisiones y respuesta.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0E9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0E9E8F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propuesta B2C y aprobar el contrato v0.2 (notificaciones + multi-hogar).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1896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9328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 para pasar de MVP a producto comercial sobre una ola demográfica de décadas.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4335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“sí” al piloto de residencias y a preparar la línea de familias, respaldado por una ronda semilla — dentro del alcance congelado y sin funciones médicas.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  ·  CareSignal</a:t>
            </a:r>
            <a:endParaRPr lang="en-US" sz="95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FUENTES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y datos de mercado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García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 del modelo CareSignal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linkedin.com/in/robertogarciaits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Correo:  robertogarciaits@gmail.com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Tel:  844 588 1313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mercado y demografía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 DESA — 65+ mundial 761M→1,600M (2050).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CONAPO — México 17.1M; 60+ = 27.7% en 2050.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OCDE — déficit 11M cuidadores a 2030.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DENUE — 819 residencias MX, ~85% privadas.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/ Market.us — software LTC US$5.8B→~US$12B.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y proyecciones son una primera iteración; ARPA e ingresos se validan en el piloto.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CareSignal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Resumen ejecutivo (una plataforma, tres mercados)</dc:title>
  <dc:subject>CareSignal — modelo creado por Roberto García</dc:subject>
  <dc:creator>Roberto García</dc:creator>
  <cp:lastModifiedBy>Roberto García</cp:lastModifiedBy>
  <cp:revision>1</cp:revision>
  <dcterms:created xsi:type="dcterms:W3CDTF">2026-07-20T15:08:11Z</dcterms:created>
  <dcterms:modified xsi:type="dcterms:W3CDTF">2026-07-20T15:08:11Z</dcterms:modified>
  <cp:category>Resumen ejecutivo</cp:category>
  <cp:contentStatus>Confidencial</cp:contentStatus>
  <dc:description>© 2026 Roberto García. Todos los derechos reservados. Contacto: linkedin.com/in/robertogarciaits · robertogarciaits@gmail.com · 844 588 1313</dc:description>
  <cp:keywords>CareSignal, Roberto García, resumen ejecutivo, B2B, B2C</cp:keywords>
  <dc:language>es-MX</dc:language>
</cp:coreProperties>
</file>