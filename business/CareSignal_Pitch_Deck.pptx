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22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🛡️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463040" y="86868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63040" y="16916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operativa para residencias de adultos mayores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8375904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⏱️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720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automática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atrasadas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9184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9184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inmutable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🔔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12648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en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real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supervisor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9204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· 4 minutos  |  WomenCISO 4 / MenCISO 1  |  Agosto 2026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8375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v0.1.0-workshop  ·  MVP operacional  ·  No dispositivo médico  ·  Datos ficticios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ya llegó para cientos de millones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mayores de 65 años en el mundo · 2023–2050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576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 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6576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60+ años · CONAPO 2025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24028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028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24028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América Latina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4028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24028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CEPAL 2024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11480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11480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EE. UU.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 M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11480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Census 2023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98932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8932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98932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Japón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8932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M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98932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Stat. JP 2023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6576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770 M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576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WPP 2022 (se estima)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92608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92608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2050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26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1,600 M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292608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ONU (se estima)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46320" y="35204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2050 habrá casi el doble de la población actual de China viviendo esta realidad.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CONAPO · CEPAL · US Census Bureau · Statistics Japan · UN WPP 2022  ·  Cifras internacionales "se estima"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0" y="64008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🤝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momento de confianza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743200" y="2468880"/>
            <a:ext cx="3474720" cy="0"/>
          </a:xfrm>
          <a:prstGeom prst="line">
            <a:avLst/>
          </a:prstGeom>
          <a:noFill/>
          <a:ln w="25400">
            <a:solidFill>
              <a:srgbClr val="5B8D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97480"/>
            <a:ext cx="7498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llevas a ese familiar, a ese ser querido, a una residencia,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estás confiando lo más valioso que tienes —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tiempo, su dignidad, su seguridad.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28016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74904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Dignidad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cuidado ocurre — o no ocurre — y nadie lo sabe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65760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programada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94560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487168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87168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🚶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487168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¿Cuidador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 a verlo?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15968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08576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DE68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08576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❓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608576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evidencia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37376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729984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9984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😰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729984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lo sabe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que es tarde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337560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40156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3401568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ejemplo: en una residencia con 50 adultos mayores se realizan cerca de 450 rondas por semana.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una es una oportunidad de que el cuidado ocurra — o de que no ocurra y nadie lo detecte.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Fallo administrativo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confiable, no hay defensa posible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32588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58191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👨‍👩‍👧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508760" y="1508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familia llama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1920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respuesta.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90779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508760" y="2834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inspección llega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2461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evidencia.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23367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508760" y="41605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abogado pregunta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45720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defensa.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5943600"/>
            <a:ext cx="8375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auditable, el director no puede demostrar que el cuidado ocurrió — en ningún escenario.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Marco legal — exposición permanente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regulación ya exige los registros — sin fecha ni aviso previo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6187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51790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📜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417320" y="139903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176479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Exige expediente administrativo permanente por residente, reglamento interno y bitácoras de operación.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84378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417320" y="272491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CNDH ISP-12/2020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09067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Muestreo en residencias documentó abandono, falta de personal y deficiencias operativas — sin sistemas de gestión.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1363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16966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⚖️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417320" y="405079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General de Salud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Art. 419: multas por incumplimiento pueden superar $234,000 MXN — y cualquier inspección, queja o demanda puede llegar sin aviso.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DOF · CNDH · Ley General de Salud Art. 419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CareSignal — la solución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sistema diseñado para resolver los dos fallos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61872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 no ocurre y nadie lo detecta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23317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⏱️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34440" y="23317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 automáticamente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una ronda no ocurre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75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34440" y="3017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al supervisor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tiempo real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34440" y="37033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Asignación, escalación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seguimiento del cuidador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1261872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A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Fallo administrativo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 ni evidencia auditable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23317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623560" y="23317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inmutable: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quién, cuándo, qué resultado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0" y="30175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623560" y="3017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papel, sin transcripción,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trabajo extra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623560" y="37033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lista ante cualquier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inspección, queja o demanda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434840" y="265176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457200" y="4956048"/>
            <a:ext cx="8375904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029200"/>
            <a:ext cx="80101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director tiene evidencia lista ante cualquier inspección, queja o demanda — en todo momento.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Tamaño de mercado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 · SaaS B2B · por residencia / mes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61872"/>
            <a:ext cx="8375904" cy="1371600"/>
          </a:xfrm>
          <a:prstGeom prst="roundRect">
            <a:avLst>
              <a:gd name="adj" fmla="val 6667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371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00200" y="1335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total cuidados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geriátricos MX + LatAm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60720" y="149047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USD 25,000 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2423160"/>
            <a:ext cx="7552944" cy="1325880"/>
          </a:xfrm>
          <a:prstGeom prst="roundRect">
            <a:avLst>
              <a:gd name="adj" fmla="val 6897"/>
            </a:avLst>
          </a:prstGeom>
          <a:solidFill>
            <a:srgbClr val="D1E8F5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33272" y="253288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011680" y="2496312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~1,100–1,300 residencias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privadas formales en MX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72200" y="265176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DENUE 2025 · +18 % anual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280160" y="3547872"/>
            <a:ext cx="6729984" cy="1325880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44752" y="3657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23160" y="3621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3–5 años: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50–200 residencias piloto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77647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$175K – $700K MXN/mes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047488"/>
            <a:ext cx="8375904" cy="594360"/>
          </a:xfrm>
          <a:prstGeom prst="roundRect">
            <a:avLst>
              <a:gd name="adj" fmla="val 12308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5120640"/>
            <a:ext cx="80101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 El registro del sector creció +18 % en un año (DENUE 2024→2025) — mercado en expansión activa.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DENUE 2025 · IMARC Group · Grand View Research  ·  Precios de referencia, no validados con clientes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¿Por qué CareSignal?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más modela el ciclo operativo de la ronda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188720"/>
            <a:ext cx="8375904" cy="457200"/>
          </a:xfrm>
          <a:prstGeom prst="roundRect">
            <a:avLst>
              <a:gd name="adj" fmla="val 10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234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3756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Cronos Care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1228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GERIGES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16459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7190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ronda atrasada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4612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8348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72084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57200" y="224028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31343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automática al supervisor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4612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348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72084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57200" y="283464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290779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de auditoría inmutable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24612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8348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2084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457200" y="342900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350215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completo alerta→cierre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24612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98348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72084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457200" y="402336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09651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Precio publicado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24612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498348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72084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57200" y="46177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46908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Expediente / historial residente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324612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98348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72084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= funcionalidad parcial o no confirmada  ·  Fuente: investigación pública agosto 2026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🏅  Tracción — producto terminado hoy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fases con gate review humano · Auditoría QA: PASS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✅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7200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7200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aprobadas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gate review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578608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78608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🧪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578608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2578608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automatizadas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00016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0016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700016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700016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Aceptación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contrato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21424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21424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🚫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821424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6821424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Hallazgos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bloqueantes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57200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200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evento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auditoría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578608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78608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2578608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2578608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Políticas del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temporal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00016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00016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👆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700016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3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700016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Acciones para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completar una ronda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821424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21424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821424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~68 KB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6821424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comprimido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producción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 Modelo de negocio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B2B · por residencia / mes · margen bruto &gt; 97 %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61872"/>
            <a:ext cx="2633472" cy="4206240"/>
          </a:xfrm>
          <a:prstGeom prst="roundRect">
            <a:avLst>
              <a:gd name="adj" fmla="val 41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417320"/>
            <a:ext cx="2633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Esencial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1828800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$1,490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" y="248716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834640"/>
            <a:ext cx="22677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944368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25 residentes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94360" y="3438144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supervisor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94360" y="3931920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5 cuidadores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94360" y="4425696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Residencias pequeñas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73552" y="1261872"/>
            <a:ext cx="2633472" cy="4206240"/>
          </a:xfrm>
          <a:prstGeom prst="roundRect">
            <a:avLst>
              <a:gd name="adj" fmla="val 4167"/>
            </a:avLst>
          </a:prstGeom>
          <a:solidFill>
            <a:srgbClr val="EFF6FF"/>
          </a:solidFill>
          <a:ln w="19050">
            <a:solidFill>
              <a:srgbClr val="5B8D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39312" y="1188720"/>
            <a:ext cx="1874520" cy="292608"/>
          </a:xfrm>
          <a:prstGeom prst="roundRect">
            <a:avLst>
              <a:gd name="adj" fmla="val 1875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39312" y="1188720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popular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73552" y="1417320"/>
            <a:ext cx="2633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Profesional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273552" y="1828800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$3,490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3273552" y="248716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56432" y="2834640"/>
            <a:ext cx="22677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10712" y="2944368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75 residentes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410712" y="3438144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3 supervisores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410712" y="3931920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15 cuidadores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410712" y="4425696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Residencias medianas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089904" y="1261872"/>
            <a:ext cx="2633472" cy="4206240"/>
          </a:xfrm>
          <a:prstGeom prst="roundRect">
            <a:avLst>
              <a:gd name="adj" fmla="val 41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89904" y="1417320"/>
            <a:ext cx="2633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Institucional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089904" y="1828800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$6,990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6089904" y="248716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72784" y="2834640"/>
            <a:ext cx="22677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27064" y="2944368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227064" y="3438144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227064" y="3931920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227064" y="4425696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Cadenas · soporte prioritario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Precios de referencia — no validados con clientes. Declarar ante jueces.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 IA y Ciberseguridad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sensibles por ley · arquitectura en GCP · roadmap de IA operativa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61872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Ciberseguridad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920240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1920240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LFPDPPP — datos de adultos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mayores son datos sensibles por ley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" y="2578608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☁️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2578608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Run + Firebase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cifrado extremo a extremo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94360" y="3236976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88720" y="3236976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dato de residente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 del dispositivo — privacidad por diseño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94360" y="3895344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👮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188720" y="389534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de ciberseguridad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activo 24 h sobre Gemini API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46320" y="1261872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 IA Operativa — roadmap v0.2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1920240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577840" y="192024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predictivas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histórico de tiempos de ronda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983480" y="2578608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577840" y="257860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anomalías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bitácora de auditoría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983480" y="3236976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577840" y="323697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Optimización de asignación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cuidadores por turno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83480" y="3895344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577840" y="389534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ejecutivo automático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turno — sin transcripción manual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34840" y="1417320"/>
            <a:ext cx="0" cy="292608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15968" y="26060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457200" y="4663440"/>
            <a:ext cx="8375904" cy="749808"/>
          </a:xfrm>
          <a:prstGeom prst="roundRect">
            <a:avLst>
              <a:gd name="adj" fmla="val 975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" y="47731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1280160" y="4736592"/>
            <a:ext cx="7406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bitácora de 20 tipos de evento por turno es el insumo nativo para toda la IA operativa 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integración externa, sin datos sintéticos.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Criterios 1 y 11 del concurso: IA aplicada · ciberseguridad activa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La oportunidad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804672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📈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57200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sector crece al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18 % anual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DENUE 2024→2025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73552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73552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📜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273552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ley ya exige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registros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73552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 · vigente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89904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9904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❌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089904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competidores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los generan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89904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Cronos Care · GERIGES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0" y="3401568"/>
            <a:ext cx="6583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457200" y="3977640"/>
            <a:ext cx="8375904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041648"/>
            <a:ext cx="801014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primero que llegue con trazabilidad operativa real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convierte en el estándar del sector.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645920" y="5029200"/>
            <a:ext cx="5541264" cy="749808"/>
          </a:xfrm>
          <a:prstGeom prst="roundRect">
            <a:avLst>
              <a:gd name="adj" fmla="val 975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45920" y="5093208"/>
            <a:ext cx="5541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  Buscamos 2–3 residencias piloto · Primer trimestre 2027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5897880"/>
            <a:ext cx="83759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Gracias.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 · v0.1.0-workshop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  Preguntas frecuentes — respuestas preparadas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para uso interno durante la sesión de Q&amp;A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34440"/>
            <a:ext cx="8375904" cy="1051560"/>
          </a:xfrm>
          <a:prstGeom prst="roundRect">
            <a:avLst>
              <a:gd name="adj" fmla="val 869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25880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P: ¿Tienen clientes?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1673352"/>
            <a:ext cx="80101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R: Cero clientes hoy. La tracción es de producto. Buscamos los primeros pilotos con este pitch.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04872"/>
            <a:ext cx="8375904" cy="1051560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496312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P: ¿Por qué no hay IA en el producto actual?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2843784"/>
            <a:ext cx="80101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R: Decisión de privacidad: ningún dato de residente sale del dispositivo. La IA entra en v0.2 cuando tengamos datos reales con consentimiento.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575304"/>
            <a:ext cx="8375904" cy="1051560"/>
          </a:xfrm>
          <a:prstGeom prst="roundRect">
            <a:avLst>
              <a:gd name="adj" fmla="val 869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666744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P: ¿Cómo se comparan con Cronos Care?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014216"/>
            <a:ext cx="80101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R: Cronos Care tiene +50 residencias en México. Somos complementarios en expediente clínico, directamente superiores en ciclo operativo de ronda.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745736"/>
            <a:ext cx="8375904" cy="1051560"/>
          </a:xfrm>
          <a:prstGeom prst="roundRect">
            <a:avLst>
              <a:gd name="adj" fmla="val 869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837176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P: ¿Quién es el equipo?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5184648"/>
            <a:ext cx="801014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R: Proyecto individual — 5 roles, 8 fases con gate review en cada una. El método es la evidencia de colaboración estructurada.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2026-08-30T08:51:20Z</dcterms:created>
  <dcterms:modified xsi:type="dcterms:W3CDTF">2026-08-30T08:51:20Z</dcterms:modified>
</cp:coreProperties>
</file>