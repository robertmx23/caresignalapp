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22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🛡️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463040" y="86868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63040" y="16916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Trazabilidad operativa para residencias de adultos mayores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375904" cy="0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⏱️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automática 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rondas atrasadas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9184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📋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9184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inmutable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25603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697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🔔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126480" y="3291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en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 real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supervisor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· 4 minutos  |  WomenCISO 4 / MenCISO 1  |  Agosto 2026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8375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v0.1.0-workshop  ·  MVP operacional  ·  No dispositivo médico  ·  Datos ficticios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ya llegó para cientos de millones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mayores de 65 años en el mundo · 2023–2050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576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 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6576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años · CONAPO 2025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24028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4028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América Latina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028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24028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CEPAL 2024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11480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🌎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11480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EE. UU.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M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11480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Census 2023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89320" y="137160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9320" y="144475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🌏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5989320" y="18745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Japón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89320" y="21488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M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63347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65+ años · Stat. JP 2023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576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770 M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576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WPP 2022 (se estima)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26080" y="3520440"/>
            <a:ext cx="1737360" cy="1828800"/>
          </a:xfrm>
          <a:prstGeom prst="roundRect">
            <a:avLst>
              <a:gd name="adj" fmla="val 4211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5935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926080" y="402336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2050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926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1,600 M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2926080" y="4782312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ONU (se estima)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35204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2050 habrá casi el doble de la población actual de China viviendo esta realidad.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CONAPO · CEPAL · US Census Bureau · Statistics Japan · UN WPP 2022  ·  Cifras internacionales "se estima"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0" y="640080"/>
            <a:ext cx="1737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🤝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momento de confianza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2743200" y="2468880"/>
            <a:ext cx="3474720" cy="0"/>
          </a:xfrm>
          <a:prstGeom prst="line">
            <a:avLst/>
          </a:prstGeom>
          <a:noFill/>
          <a:ln w="25400">
            <a:solidFill>
              <a:srgbClr val="5B8D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97480"/>
            <a:ext cx="7498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llevas a ese familiar, a ese ser querido, a una residencia,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estás confiando lo más valioso que tienes —</a:t>
            </a:r>
            <a:endParaRPr lang="en-US" sz="2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2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tiempo, su dignidad, su seguridad.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28016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Tiempo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74904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Dignidad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17920" y="44348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443484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el cuidado ocurre — o no ocurre — y nadie lo sabe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65760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programada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194560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487168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87168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🚶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2487168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¿Cuidador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 a verlo?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315968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608576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DE68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❓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608576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 evidencia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37376" y="1737360"/>
            <a:ext cx="2926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729984" y="1325880"/>
            <a:ext cx="1828800" cy="1737360"/>
          </a:xfrm>
          <a:prstGeom prst="roundRect">
            <a:avLst>
              <a:gd name="adj" fmla="val 526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9984" y="1417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😰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29984" y="20116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lo sabe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hasta que es tarde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337560"/>
            <a:ext cx="8375904" cy="960120"/>
          </a:xfrm>
          <a:prstGeom prst="roundRect">
            <a:avLst>
              <a:gd name="adj" fmla="val 7619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40156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371600" y="3401568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ejemplo: en una residencia con 50 adultos mayores se realizan cerca de 450 rondas por semana.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una es una oportunidad de que el cuidado ocurra — o de que no ocurra y nadie lo detecte.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confiable, no hay defensa posible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2588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58191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👨‍👩‍👧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508760" y="1508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familia llama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respuesta.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90779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🏛️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508760" y="28346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inspección llega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3246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evidencia.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8375904" cy="1143000"/>
          </a:xfrm>
          <a:prstGeom prst="roundRect">
            <a:avLst>
              <a:gd name="adj" fmla="val 8000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4233672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508760" y="41605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abogado pregunta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08760" y="4572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hay defensa.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5943600"/>
            <a:ext cx="8375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auditable, el director no puede demostrar que el cuidado ocurrió — en ningún escenario.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 Marco legal — exposición permanente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regulación ya exige los registros — sin fecha ni aviso previo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51790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📜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417320" y="139903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176479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Exige expediente administrativo permanente por residente, reglamento interno y bitácoras de operación.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58775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EDE9F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84378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17320" y="272491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CNDH ISP-12/2020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09067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Muestreo en residencias documentó abandono, falta de personal y deficiencias operativas — sin sistemas de gestión.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375904" cy="1170432"/>
          </a:xfrm>
          <a:prstGeom prst="roundRect">
            <a:avLst>
              <a:gd name="adj" fmla="val 7813"/>
            </a:avLst>
          </a:prstGeom>
          <a:solidFill>
            <a:srgbClr val="FECAC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69664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417320" y="4050792"/>
            <a:ext cx="7223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General de Salud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44165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419: multas por incumplimiento pueden superar $234,000 MXN — y cualquier inspección, queja o demanda puede llegar sin aviso.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DOF · CNDH · Ley General de Salud Art. 419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0"/>
            <a:ext cx="694944" cy="6858000"/>
          </a:xfrm>
          <a:prstGeom prst="rect">
            <a:avLst/>
          </a:prstGeom>
          <a:solidFill>
            <a:srgbClr val="A8C4DC">
              <a:alpha val="12000"/>
            </a:srgbClr>
          </a:solidFill>
          <a:ln w="12700">
            <a:solidFill>
              <a:srgbClr val="A8C4DC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4720" y="5120640"/>
            <a:ext cx="2377440" cy="2377440"/>
          </a:xfrm>
          <a:prstGeom prst="ellipse">
            <a:avLst/>
          </a:prstGeom>
          <a:solidFill>
            <a:srgbClr val="C4786A">
              <a:alpha val="10000"/>
            </a:srgbClr>
          </a:solidFill>
          <a:ln w="12700">
            <a:solidFill>
              <a:srgbClr val="C4786A">
                <a:alpha val="1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CareSignal — la solución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sistema diseñado para resolver los dos fallos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78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Fallo operativo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Ronda no ocurre y nadie lo detecta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⏱️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 automáticamente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ronda no ocurre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3444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al supervisor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tiempo real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👤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3444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Asignación, escalación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seguimiento del cuidador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1261872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0FDF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1371600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A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🗂️  Fallo administrativo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83480" y="1783080"/>
            <a:ext cx="37033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87452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registro confiable ni evidencia auditable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623560" y="23317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inmutable: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cuándo, qué resultado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0" y="30175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23560" y="30175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papel, sin transcripción,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trabajo extra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02920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23560" y="370332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lista ante cualquier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inspección, queja o demanda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434840" y="26517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457200" y="4956048"/>
            <a:ext cx="8375904" cy="685800"/>
          </a:xfrm>
          <a:prstGeom prst="roundRect">
            <a:avLst>
              <a:gd name="adj" fmla="val 1066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029200"/>
            <a:ext cx="80101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director tiene evidencia lista ante cualquier inspección, queja o demanda — en todo momento.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operacional · No dispositivo médico · Datos ficticios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371600"/>
            <a:ext cx="3474720" cy="3474720"/>
          </a:xfrm>
          <a:prstGeom prst="ellipse">
            <a:avLst/>
          </a:prstGeom>
          <a:solidFill>
            <a:srgbClr val="7BA68A">
              <a:alpha val="16000"/>
            </a:srgbClr>
          </a:solidFill>
          <a:ln w="12700">
            <a:solidFill>
              <a:srgbClr val="7BA68A">
                <a:alpha val="16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365760" y="5303520"/>
            <a:ext cx="2011680" cy="2011680"/>
          </a:xfrm>
          <a:prstGeom prst="ellipse">
            <a:avLst/>
          </a:prstGeom>
          <a:solidFill>
            <a:srgbClr val="A8C4DC">
              <a:alpha val="20000"/>
            </a:srgbClr>
          </a:solidFill>
          <a:ln w="12700">
            <a:solidFill>
              <a:srgbClr val="A8C4DC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080000">
            <a:off x="274320" y="5943600"/>
            <a:ext cx="228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Tamaño de mercado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México · SaaS B2B · por residencia / mes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261872"/>
            <a:ext cx="8375904" cy="1371600"/>
          </a:xfrm>
          <a:prstGeom prst="roundRect">
            <a:avLst>
              <a:gd name="adj" fmla="val 6667"/>
            </a:avLst>
          </a:prstGeom>
          <a:solidFill>
            <a:srgbClr val="A8C4D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371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00200" y="1335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total cuidados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geriátricos MX + LatAm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1490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USD 25,000 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2423160"/>
            <a:ext cx="7552944" cy="1325880"/>
          </a:xfrm>
          <a:prstGeom prst="roundRect">
            <a:avLst>
              <a:gd name="adj" fmla="val 6897"/>
            </a:avLst>
          </a:prstGeom>
          <a:solidFill>
            <a:srgbClr val="D1E8F5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25328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011680" y="2496312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~1,100–1,300 residencias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privadas formales en MX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DENUE 2025 · +18 % anual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80160" y="3547872"/>
            <a:ext cx="6729984" cy="1325880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44752" y="365760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23160" y="362102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3–5 años: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50–200 residencias piloto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77647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6B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$175K – $700K MXN/mes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047488"/>
            <a:ext cx="8375904" cy="594360"/>
          </a:xfrm>
          <a:prstGeom prst="roundRect">
            <a:avLst>
              <a:gd name="adj" fmla="val 12308"/>
            </a:avLst>
          </a:prstGeom>
          <a:solidFill>
            <a:srgbClr val="F0EDE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20640"/>
            <a:ext cx="801014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 El registro del sector creció +18 % en un año (DENUE 2024→2025) — mercado en expansión activa.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Fuentes: DENUE 2025 · IMARC Group · Grand View Research  ·  Precios de referencia, no validados con clientes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 w="12700">
            <a:solidFill>
              <a:srgbClr val="FAFA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4389120"/>
            <a:ext cx="3840480" cy="3840480"/>
          </a:xfrm>
          <a:prstGeom prst="ellipse">
            <a:avLst/>
          </a:prstGeom>
          <a:solidFill>
            <a:srgbClr val="A8C4DC">
              <a:alpha val="18000"/>
            </a:srgbClr>
          </a:solidFill>
          <a:ln w="12700">
            <a:solidFill>
              <a:srgbClr val="A8C4DC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005840" y="-1097280"/>
            <a:ext cx="2926080" cy="2926080"/>
          </a:xfrm>
          <a:prstGeom prst="ellipse">
            <a:avLst/>
          </a:prstGeom>
          <a:solidFill>
            <a:srgbClr val="C4786A">
              <a:alpha val="12000"/>
            </a:srgbClr>
          </a:solidFill>
          <a:ln w="12700">
            <a:solidFill>
              <a:srgbClr val="C4786A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1645920"/>
            <a:ext cx="54864" cy="2194560"/>
          </a:xfrm>
          <a:prstGeom prst="rect">
            <a:avLst/>
          </a:prstGeom>
          <a:solidFill>
            <a:srgbClr val="5B8DB8">
              <a:alpha val="45000"/>
            </a:srgbClr>
          </a:solidFill>
          <a:ln w="12700">
            <a:solidFill>
              <a:srgbClr val="5B8DB8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8816"/>
            <a:ext cx="12192000" cy="54864"/>
          </a:xfrm>
          <a:prstGeom prst="rect">
            <a:avLst/>
          </a:prstGeom>
          <a:solidFill>
            <a:srgbClr val="C4786A"/>
          </a:solidFill>
          <a:ln w="12700">
            <a:solidFill>
              <a:srgbClr val="C478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8600"/>
            <a:ext cx="837590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¿Por qué CareSignal?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731520"/>
            <a:ext cx="83759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5B8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más modela el ciclo operativo de la ronda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8375904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1188720"/>
            <a:ext cx="8375904" cy="457200"/>
          </a:xfrm>
          <a:prstGeom prst="roundRect">
            <a:avLst>
              <a:gd name="adj" fmla="val 10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234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3756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CareSignal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Cronos Care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12280" y="1234440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GERIGES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6459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7190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Detección de ronda atrasada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4612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8348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720840" y="16916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57200" y="224028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31343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automática al supervisor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4612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8348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720840" y="228600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457200" y="283464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90779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Bitácora de auditoría inmutable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24612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8348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20840" y="288036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457200" y="342900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50215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completo alerta→cierre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4612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98348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720840" y="347472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457200" y="402336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0EDE8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0965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Precio publicado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498348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720840" y="406908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57200" y="4617720"/>
            <a:ext cx="8375904" cy="530352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508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69087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Expediente / historial residente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324612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498348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720840" y="4663440"/>
            <a:ext cx="1691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457200" y="6291072"/>
            <a:ext cx="8375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= funcionalidad parcial o no confirmada  ·  Fuente: investigación pública agosto 2026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2026-08-29T17:16:57Z</dcterms:created>
  <dcterms:modified xsi:type="dcterms:W3CDTF">2026-08-29T17:16:57Z</dcterms:modified>
</cp:coreProperties>
</file>