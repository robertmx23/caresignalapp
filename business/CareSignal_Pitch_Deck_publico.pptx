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3" d="100"/>
          <a:sy n="93" d="100"/>
        </p:scale>
        <p:origin x="113" y="2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179153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8229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000000"/>
                </a:solidFill>
              </a:rPr>
              <a:t>🛡️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463040" y="86868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CareSignal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463040" y="169164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Trazabilidad operativa para residencias de adultos mayores</a:t>
            </a: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57200" y="2286000"/>
            <a:ext cx="8375904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" y="25603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2697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⏱️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57200" y="3291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Detección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automática de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rondas atrasadas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91840" y="25603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91840" y="2697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📋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3291840" y="3291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Bitácora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auditable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inmutable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26480" y="25603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126480" y="2697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🔔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126480" y="3291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en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 real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supervisor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489204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Roberto Garcia |  WomenCISO 4 / MenCISO 1  |  </a:t>
            </a:r>
            <a:r>
              <a:rPr lang="en-US" sz="1200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Septiembre</a:t>
            </a: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2026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6172200"/>
            <a:ext cx="8806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v0.1.0-workshop  ·  MVP operacional  ·  No dispositivo médico  ·  Datos </a:t>
            </a:r>
            <a:r>
              <a:rPr lang="en-US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sintéticos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722252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 ya llegó para cientos de millones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Personas mayores de 65 años en el mundo · 2023–2050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6576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6576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🌎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6576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México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17.1 M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6576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60+ años · CONAPO 2025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24028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24028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🌎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24028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América Latina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24028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 M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224028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65+ años · CEPAL 2024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11480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11480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🌎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11480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EE. UU.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11480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 M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11480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65+ años · Census 2023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98932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98932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🌏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598932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Japón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98932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M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598932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65+ años · Stat. JP 2023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65760" y="352044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65760" y="359359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🌍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365760" y="40233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6576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770 M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365760" y="478231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WPP 2022 (se estima)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926080" y="352044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2926080" y="359359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2926080" y="40233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2050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92608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1,600 M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2926080" y="478231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Proyección ONU (se estima)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65760" y="3383280"/>
            <a:ext cx="84124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4846320" y="3520440"/>
            <a:ext cx="3931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2050 habrá casi el doble de la población actual de China viviendo esta realidad.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CONAPO · CEPAL · US Census Bureau · Statistics Japan · UN WPP 2022  ·  Cifras internacionales "se estima"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0" y="640080"/>
            <a:ext cx="1737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000000"/>
                </a:solidFill>
              </a:rPr>
              <a:t>🤝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momento de confianza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2743200" y="2468880"/>
            <a:ext cx="3474720" cy="0"/>
          </a:xfrm>
          <a:prstGeom prst="line">
            <a:avLst/>
          </a:prstGeom>
          <a:noFill/>
          <a:ln w="254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31520" y="2697480"/>
            <a:ext cx="7498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2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llevas a ese familiar, a ese ser querido, a una residencia,</a:t>
            </a:r>
            <a:endParaRPr lang="en-US" sz="20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2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estás confiando lo más valioso que tienes —</a:t>
            </a:r>
            <a:endParaRPr lang="en-US" sz="20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2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tiempo, su dignidad, su seguridad.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1280160" y="443484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280160" y="44348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749040" y="443484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749040" y="44348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Dignidad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217920" y="443484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17920" y="44348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</a:t>
            </a:r>
            <a:r>
              <a:rPr lang="en-US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sintéticos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 El </a:t>
            </a:r>
            <a:r>
              <a:rPr lang="en-US" b="1" dirty="0" err="1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</a:t>
            </a: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la </a:t>
            </a:r>
            <a:r>
              <a:rPr lang="en-US" b="1" dirty="0" err="1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situación</a:t>
            </a: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b="1" dirty="0" err="1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operativa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el cuidado ocurre — o no ocurre — y nadie lo sabe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65760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A8C4D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65760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📅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65760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programada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194560" y="1737360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2487168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487168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🚶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2487168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¿Cuidador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 a verlo?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315968" y="1737360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608576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FDE68A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608576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❓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4608576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 evidencia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37376" y="1737360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729984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FECACA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729984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😰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729984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lo sabe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que es tarde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3337560"/>
            <a:ext cx="8375904" cy="960120"/>
          </a:xfrm>
          <a:prstGeom prst="roundRect">
            <a:avLst>
              <a:gd name="adj" fmla="val 7619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48640" y="340156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1371600" y="3401568"/>
            <a:ext cx="7223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ejemplo: en una residencia con 50 adultos mayores se realizan cerca de 450 rondas por semana.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una es una oportunidad de que el cuidado ocurra — o de que no ocurra y nadie lo detecte.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</a:t>
            </a:r>
            <a:r>
              <a:rPr lang="en-US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sintéticos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🗂️  El </a:t>
            </a:r>
            <a:r>
              <a:rPr lang="en-US" b="1" dirty="0" err="1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</a:t>
            </a: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la </a:t>
            </a:r>
            <a:r>
              <a:rPr lang="en-US" b="1" dirty="0" err="1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situación</a:t>
            </a: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b="1" dirty="0" err="1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administrativa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 confiable, no hay defensa posible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1325880"/>
            <a:ext cx="8375904" cy="1143000"/>
          </a:xfrm>
          <a:prstGeom prst="roundRect">
            <a:avLst>
              <a:gd name="adj" fmla="val 8000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158191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👨‍👩‍👧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508760" y="15087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familia llama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19202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no hay respuesta.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8375904" cy="1143000"/>
          </a:xfrm>
          <a:prstGeom prst="roundRect">
            <a:avLst>
              <a:gd name="adj" fmla="val 8000"/>
            </a:avLst>
          </a:prstGeom>
          <a:solidFill>
            <a:srgbClr val="EDE9FE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94360" y="290779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🏛️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1508760" y="28346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inspección llega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324612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no hay evidencia.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3977640"/>
            <a:ext cx="8375904" cy="1143000"/>
          </a:xfrm>
          <a:prstGeom prst="roundRect">
            <a:avLst>
              <a:gd name="adj" fmla="val 8000"/>
            </a:avLst>
          </a:prstGeom>
          <a:solidFill>
            <a:srgbClr val="FECACA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94360" y="423367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⚖️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1508760" y="41605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abogado pregunta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08760" y="457200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no hay defensa.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5943600"/>
            <a:ext cx="8375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 auditable, el director no puede demostrar que el cuidado ocurrió — en ningún escenario.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</a:t>
            </a:r>
            <a:r>
              <a:rPr lang="en-US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sintéticos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⚖️  Marco legal — exposición permanente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regulación ya exige los registros — sin fecha ni aviso previo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7200" y="1261872"/>
            <a:ext cx="8375904" cy="1170432"/>
          </a:xfrm>
          <a:prstGeom prst="roundRect">
            <a:avLst>
              <a:gd name="adj" fmla="val 7813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94360" y="1517904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📜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417320" y="1399032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NOM-031-SSA3-2012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17320" y="1764792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Exige expediente administrativo permanente por residente, reglamento interno y bitácoras de operación.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587752"/>
            <a:ext cx="8375904" cy="1170432"/>
          </a:xfrm>
          <a:prstGeom prst="roundRect">
            <a:avLst>
              <a:gd name="adj" fmla="val 7813"/>
            </a:avLst>
          </a:prstGeom>
          <a:solidFill>
            <a:srgbClr val="EDE9FE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94360" y="2843784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🔍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417320" y="2724912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CNDH ISP-12/2020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3090672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Muestreo en residencias documentó abandono, falta de personal y deficiencias operativas — sin sistemas de gestión.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913632"/>
            <a:ext cx="8375904" cy="1170432"/>
          </a:xfrm>
          <a:prstGeom prst="roundRect">
            <a:avLst>
              <a:gd name="adj" fmla="val 7813"/>
            </a:avLst>
          </a:prstGeom>
          <a:solidFill>
            <a:srgbClr val="FECACA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94360" y="4169664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⚖️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417320" y="4050792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Ley General de Salud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17320" y="4416552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Art. 419: multas por incumplimiento pueden superar $234,000 MXN — y cualquier inspección, queja o demanda puede llegar sin aviso.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DOF · CNDH · Ley General de Salud Art. 419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CareSignal — la solución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sistema diseñado para resolver los dos fallos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1261872"/>
            <a:ext cx="3977640" cy="978408"/>
          </a:xfrm>
          <a:prstGeom prst="roundRect">
            <a:avLst>
              <a:gd name="adj" fmla="val 2105"/>
            </a:avLst>
          </a:prstGeom>
          <a:solidFill>
            <a:schemeClr val="accent2">
              <a:lumMod val="20000"/>
              <a:lumOff val="80000"/>
            </a:schemeClr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1371600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 Fallo operativo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4360" y="1783080"/>
            <a:ext cx="37033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94360" y="1874520"/>
            <a:ext cx="3703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 no ocurre y nadie lo detecta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32020" y="1266445"/>
            <a:ext cx="3977640" cy="960120"/>
          </a:xfrm>
          <a:prstGeom prst="roundRect">
            <a:avLst>
              <a:gd name="adj" fmla="val 2105"/>
            </a:avLst>
          </a:prstGeom>
          <a:solidFill>
            <a:schemeClr val="accent2">
              <a:lumMod val="20000"/>
              <a:lumOff val="80000"/>
            </a:schemeClr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983480" y="1371600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BA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🗂️  </a:t>
            </a:r>
            <a:r>
              <a:rPr lang="en-US" sz="1400" b="1" dirty="0">
                <a:solidFill>
                  <a:srgbClr val="C4786A"/>
                </a:solidFill>
                <a:latin typeface="Arial" pitchFamily="34" charset="0"/>
                <a:cs typeface="Arial" pitchFamily="34" charset="-120"/>
              </a:rPr>
              <a:t>Fallo administrativo</a:t>
            </a:r>
          </a:p>
        </p:txBody>
      </p:sp>
      <p:sp>
        <p:nvSpPr>
          <p:cNvPr id="22" name="Shape 20"/>
          <p:cNvSpPr/>
          <p:nvPr/>
        </p:nvSpPr>
        <p:spPr>
          <a:xfrm>
            <a:off x="4983480" y="1783080"/>
            <a:ext cx="37033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983480" y="1874520"/>
            <a:ext cx="3703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 confiable ni evidencia auditable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5019436"/>
            <a:ext cx="8375904" cy="685800"/>
          </a:xfrm>
          <a:prstGeom prst="roundRect">
            <a:avLst>
              <a:gd name="adj" fmla="val 10667"/>
            </a:avLst>
          </a:prstGeom>
          <a:solidFill>
            <a:schemeClr val="accent1">
              <a:lumMod val="60000"/>
              <a:lumOff val="40000"/>
            </a:schemeClr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40080" y="5029200"/>
            <a:ext cx="80101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director tiene evidencia lista ante cualquier inspección, queja o demanda — en todo momento.</a:t>
            </a:r>
            <a:endParaRPr lang="en-US" sz="1300" dirty="0"/>
          </a:p>
        </p:txBody>
      </p:sp>
      <p:sp>
        <p:nvSpPr>
          <p:cNvPr id="43" name="Text 6">
            <a:extLst>
              <a:ext uri="{FF2B5EF4-FFF2-40B4-BE49-F238E27FC236}">
                <a16:creationId xmlns:a16="http://schemas.microsoft.com/office/drawing/2014/main" id="{1D66D282-66FE-A8E9-64AF-DE5882472691}"/>
              </a:ext>
            </a:extLst>
          </p:cNvPr>
          <p:cNvSpPr/>
          <p:nvPr/>
        </p:nvSpPr>
        <p:spPr>
          <a:xfrm>
            <a:off x="4732020" y="2782371"/>
            <a:ext cx="3977640" cy="20737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</a:t>
            </a:r>
            <a:r>
              <a:rPr lang="en-US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sintéticos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006340" y="2892447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006340" y="3578247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📄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5006340" y="4264047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🛡️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600700" y="2892447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Bitácora inmutable: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quién, cuándo, qué resultado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600700" y="3578247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papel, sin transcripción,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trabajo extra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600700" y="4264047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lista ante cualquier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inspección, queja o demanda</a:t>
            </a:r>
            <a:endParaRPr lang="en-US" sz="1300" dirty="0"/>
          </a:p>
        </p:txBody>
      </p:sp>
      <p:sp>
        <p:nvSpPr>
          <p:cNvPr id="45" name="Text 6">
            <a:extLst>
              <a:ext uri="{FF2B5EF4-FFF2-40B4-BE49-F238E27FC236}">
                <a16:creationId xmlns:a16="http://schemas.microsoft.com/office/drawing/2014/main" id="{B9281D72-1063-D73D-F901-32DF6FA23612}"/>
              </a:ext>
            </a:extLst>
          </p:cNvPr>
          <p:cNvSpPr/>
          <p:nvPr/>
        </p:nvSpPr>
        <p:spPr>
          <a:xfrm>
            <a:off x="457200" y="2782371"/>
            <a:ext cx="3977640" cy="211121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62940" y="2980324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⏱️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57300" y="2980324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Detecta automáticamente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una ronda no ocurre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2940" y="3666124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🔔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257300" y="3666124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al supervisor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tiempo real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62940" y="4351924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257300" y="4351924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Asignación, escalación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seguimiento del cuidador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 Tamaño de mercado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México · SaaS B2B · por residencia / mes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7200" y="1261872"/>
            <a:ext cx="8375904" cy="1371600"/>
          </a:xfrm>
          <a:prstGeom prst="roundRect">
            <a:avLst>
              <a:gd name="adj" fmla="val 6667"/>
            </a:avLst>
          </a:prstGeom>
          <a:solidFill>
            <a:srgbClr val="A8C4D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21792" y="137160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600200" y="1335024"/>
            <a:ext cx="4114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total cuidados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geriátricos MX + LatAm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760720" y="1490472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USD 25,000 M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2423160"/>
            <a:ext cx="7552944" cy="1325880"/>
          </a:xfrm>
          <a:prstGeom prst="roundRect">
            <a:avLst>
              <a:gd name="adj" fmla="val 6897"/>
            </a:avLst>
          </a:prstGeom>
          <a:solidFill>
            <a:srgbClr val="D1E8F5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033272" y="2532888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011680" y="2496312"/>
            <a:ext cx="4114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~1,100–1,300 residencias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privadas formales en MX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067227" y="2651760"/>
            <a:ext cx="127861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DENUE 2025 · +18 % anual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280160" y="3547872"/>
            <a:ext cx="6729984" cy="1325880"/>
          </a:xfrm>
          <a:prstGeom prst="roundRect">
            <a:avLst>
              <a:gd name="adj" fmla="val 689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444752" y="365760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423160" y="3621024"/>
            <a:ext cx="4114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3–5 años: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50–200 residencias piloto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90275" y="3776472"/>
            <a:ext cx="2363491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$175K – $700K MXN/mes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5047488"/>
            <a:ext cx="8375904" cy="594360"/>
          </a:xfrm>
          <a:prstGeom prst="roundRect">
            <a:avLst>
              <a:gd name="adj" fmla="val 12308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40080" y="5120640"/>
            <a:ext cx="80101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  El registro del sector creció +18 % en un año (DENUE 2024→2025) — mercado en expansión activa.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199" y="6007608"/>
            <a:ext cx="11604357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DENUE 2025 · IMARC Group · Grand View Research  ·  Precios de </a:t>
            </a:r>
            <a:r>
              <a:rPr lang="en-US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referencia</a:t>
            </a: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estimados</a:t>
            </a:r>
            <a:endParaRPr lang="en-US" dirty="0"/>
          </a:p>
        </p:txBody>
      </p:sp>
      <p:sp>
        <p:nvSpPr>
          <p:cNvPr id="27" name="Text 19">
            <a:extLst>
              <a:ext uri="{FF2B5EF4-FFF2-40B4-BE49-F238E27FC236}">
                <a16:creationId xmlns:a16="http://schemas.microsoft.com/office/drawing/2014/main" id="{8B4D2336-CBB1-1250-7067-597B4E54D39E}"/>
              </a:ext>
            </a:extLst>
          </p:cNvPr>
          <p:cNvSpPr/>
          <p:nvPr/>
        </p:nvSpPr>
        <p:spPr>
          <a:xfrm>
            <a:off x="6315456" y="4127353"/>
            <a:ext cx="1694688" cy="31663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*tier </a:t>
            </a:r>
            <a:r>
              <a:rPr lang="en-US" sz="1100" dirty="0" err="1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esencial</a:t>
            </a: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($3,500)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 ¿Por qué CareSignal?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más modela el ciclo operativo de la ronda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7200" y="1188720"/>
            <a:ext cx="8375904" cy="457200"/>
          </a:xfrm>
          <a:prstGeom prst="roundRect">
            <a:avLst>
              <a:gd name="adj" fmla="val 1000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12344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Capacidad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37560" y="123444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CareSignal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74920" y="123444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Cronos Care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12280" y="123444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GERIGES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164592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0EDE8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171907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Detección de ronda atrasada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246120" y="16916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983480" y="16916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720840" y="16916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57200" y="224028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48640" y="231343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automática al supervisor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246120" y="228600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983480" y="228600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720840" y="228600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457200" y="283464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0EDE8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48640" y="290779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Bitácora de auditoría inmutable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246120" y="288036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83480" y="288036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720840" y="288036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457200" y="342900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48640" y="350215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completo alerta→cierre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3246120" y="347472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983480" y="347472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6720840" y="347472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457200" y="402336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0EDE8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48640" y="409651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Precio publicado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3246120" y="406908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4983480" y="406908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6720840" y="406908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457200" y="461772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48640" y="469087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Expediente / historial residente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3246120" y="46634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4983480" y="46634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6720840" y="46634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457199" y="5934456"/>
            <a:ext cx="10372241" cy="5577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= funcionalidad parcial o no confirmada  ·  Fuente: investigación pública agosto 2026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🏅  Demo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</a:t>
            </a:r>
            <a:r>
              <a:rPr lang="en-US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sintéticos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💰  Modelo de negocio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Freemium + SaaS B2B · por residencia / mes · margen bruto &gt; 80 %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64592" y="1261872"/>
            <a:ext cx="2011680" cy="4206240"/>
          </a:xfrm>
          <a:prstGeom prst="roundRect">
            <a:avLst>
              <a:gd name="adj" fmla="val 5455"/>
            </a:avLst>
          </a:prstGeom>
          <a:solidFill>
            <a:srgbClr val="F0FAF4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64592" y="14173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Operacional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64592" y="182880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6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4592" y="24231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tarjeta · sin límite de tiempo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01752" y="2816352"/>
            <a:ext cx="17373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56032" y="2926080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8 residentes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56032" y="3419856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usuario activo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56032" y="3913632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Rondas básicas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56032" y="4407408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responsabilidad legal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340864" y="1261872"/>
            <a:ext cx="2011680" cy="4206240"/>
          </a:xfrm>
          <a:prstGeom prst="roundRect">
            <a:avLst>
              <a:gd name="adj" fmla="val 5455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340864" y="14173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Esencial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340864" y="182880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$1,990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2340864" y="24231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MXN / mes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478024" y="2816352"/>
            <a:ext cx="17373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432304" y="2926080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30 residentes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432304" y="3419856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usuarios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432304" y="3913632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+ auditoría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432304" y="4407408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Residencias pequeñas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17136" y="1261872"/>
            <a:ext cx="2011680" cy="4206240"/>
          </a:xfrm>
          <a:prstGeom prst="roundRect">
            <a:avLst>
              <a:gd name="adj" fmla="val 5455"/>
            </a:avLst>
          </a:prstGeom>
          <a:solidFill>
            <a:srgbClr val="EFF6FF"/>
          </a:solidFill>
          <a:ln w="1905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791456" y="1188720"/>
            <a:ext cx="1463040" cy="292608"/>
          </a:xfrm>
          <a:prstGeom prst="roundRect">
            <a:avLst>
              <a:gd name="adj" fmla="val 1875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791456" y="11887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Sweet spot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517136" y="14173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Profesional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17136" y="182880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$3,990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4517136" y="24231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MXN / mes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654296" y="2816352"/>
            <a:ext cx="17373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608576" y="2926080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80 residentes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608576" y="3419856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10 usuarios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608576" y="3913632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supervisor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08576" y="4407408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Residencias medianas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693408" y="1261872"/>
            <a:ext cx="2011680" cy="4206240"/>
          </a:xfrm>
          <a:prstGeom prst="roundRect">
            <a:avLst>
              <a:gd name="adj" fmla="val 5455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693408" y="14173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Institucional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93408" y="182880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$8,490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6693408" y="24231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MXN / mes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830568" y="2816352"/>
            <a:ext cx="17373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6784848" y="2926080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límite · multi-sede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784848" y="3419856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límite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784848" y="3913632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+ soporte dedicado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784848" y="4407408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Cadenas institucionales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457200" y="5888736"/>
            <a:ext cx="11135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Precios de </a:t>
            </a:r>
            <a:r>
              <a:rPr lang="en-US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referencia</a:t>
            </a: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estimados</a:t>
            </a: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 tier Freemium opera sin SLA ni </a:t>
            </a:r>
            <a:r>
              <a:rPr lang="en-US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responsabilidad</a:t>
            </a: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legal.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🔐  IA y Ciberseguridad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sensibles por ley · arquitectura en GCP · roadmap de IA operativa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1261872"/>
            <a:ext cx="3977640" cy="3200400"/>
          </a:xfrm>
          <a:prstGeom prst="roundRect">
            <a:avLst>
              <a:gd name="adj" fmla="val 2286"/>
            </a:avLst>
          </a:prstGeom>
          <a:solidFill>
            <a:srgbClr val="FFF7ED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1371600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 Ciberseguridad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4360" y="1783080"/>
            <a:ext cx="3703320" cy="0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94360" y="1920240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📜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88720" y="1920240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LFPDPPP — datos de adultos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mayores son datos sensibles por ley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4360" y="2578608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☁️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188720" y="2578608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Run + Firebase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cifrado extremo a extremo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94360" y="3236976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🔒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88720" y="3236976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Ningún dato de residente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 del dispositivo — privacidad por diseño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88720" y="3895344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de ciberseguridad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activo 24 h sobre Gemini API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846320" y="1261872"/>
            <a:ext cx="3977640" cy="3200400"/>
          </a:xfrm>
          <a:prstGeom prst="roundRect">
            <a:avLst>
              <a:gd name="adj" fmla="val 2286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983480" y="1371600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🤖  IA Operativa — roadmap v0.2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983480" y="1783080"/>
            <a:ext cx="3703320" cy="0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983480" y="1920240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5577840" y="1920240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predictivas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sobre histórico de tiempos de ronda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983480" y="2578608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🔍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5577840" y="2578608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Detección de anomalías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la bitácora de auditoría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983480" y="3236976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📅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5577840" y="3236976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Optimización de asignación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cuidadores por turno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983480" y="3895344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📝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5577840" y="3895344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Resumen ejecutivo automático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turno — sin transcripción manual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434840" y="1417320"/>
            <a:ext cx="0" cy="292608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315968" y="260604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457200" y="4663440"/>
            <a:ext cx="8375904" cy="749808"/>
          </a:xfrm>
          <a:prstGeom prst="roundRect">
            <a:avLst>
              <a:gd name="adj" fmla="val 975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66928" y="47731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1280160" y="4736592"/>
            <a:ext cx="74066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bitácora de 20 tipos de evento por turno es el insumo nativo para toda la IA operativa —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integración externa, sin datos sintéticos.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👨‍👩‍👧  Fase paralela — Mercado familiar (B2C)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713232"/>
            <a:ext cx="8375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misma plataforma · dos puertas de entrada · conversión cruzada B2C → B2B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60704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65760" y="1170432"/>
            <a:ext cx="3840480" cy="3383280"/>
          </a:xfrm>
          <a:prstGeom prst="roundRect">
            <a:avLst>
              <a:gd name="adj" fmla="val 2162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1243584"/>
            <a:ext cx="35478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(canal actual)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16459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🏢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96112" y="16459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011680" y="164592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Director de residencia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02920" y="21031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💰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96112" y="21031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011680" y="210312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$1,990 – $8,490 MXN/mes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02920" y="25603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⏱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96112" y="25603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de venta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011680" y="256032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2–6 meses · B2B largo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02920" y="30175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📣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96112" y="30175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Adquisición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011680" y="301752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Ventas de campo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02920" y="34747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📊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96112" y="34747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México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011680" y="347472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~1,200 residencias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160520" y="265176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⇄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4626864" y="1170432"/>
            <a:ext cx="4151376" cy="3383280"/>
          </a:xfrm>
          <a:prstGeom prst="roundRect">
            <a:avLst>
              <a:gd name="adj" fmla="val 2162"/>
            </a:avLst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736592" y="1243584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B2C — Fase paralela  🆕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736592" y="16459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👪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38928" y="16459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254496" y="1645920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 de adulto mayor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736592" y="21031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💰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38928" y="21031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254496" y="2103120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$199 – $399 MXN/mes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736592" y="25603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⚡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38928" y="25603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de venta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254496" y="2560320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5 min · autoservicio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736592" y="30175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📱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138928" y="30175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Adquisición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254496" y="3017520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stores · redes sociales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4736592" y="34747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📊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5138928" y="34747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México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254496" y="3474720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~2M familias con cuidado activo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365760" y="4663440"/>
            <a:ext cx="8375904" cy="1005840"/>
          </a:xfrm>
          <a:prstGeom prst="roundRect">
            <a:avLst>
              <a:gd name="adj" fmla="val 7273"/>
            </a:avLst>
          </a:prstGeom>
          <a:solidFill>
            <a:srgbClr val="F0FAF4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54864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BA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🔄  El flywheel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57200" y="5047488"/>
            <a:ext cx="10789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 adopta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CareSignal en casa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627632" y="5047488"/>
            <a:ext cx="365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2798064" y="5047488"/>
            <a:ext cx="10789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Familiar ingresa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una residencia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3968496" y="5047488"/>
            <a:ext cx="365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5138928" y="5047488"/>
            <a:ext cx="10789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 recomienda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CareSignal al director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309360" y="5047488"/>
            <a:ext cx="365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7479792" y="5047488"/>
            <a:ext cx="10789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Residencia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contrata (B2B)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457200" y="5879592"/>
            <a:ext cx="11174278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Fase B2C proyectada — requiere versión móvil y validación de mercado. No comprometida en v0.1.0.</a:t>
            </a: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 La oportunidad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804672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960120"/>
            <a:ext cx="2633472" cy="2331720"/>
          </a:xfrm>
          <a:prstGeom prst="roundRect">
            <a:avLst>
              <a:gd name="adj" fmla="val 470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1078992"/>
            <a:ext cx="2633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📈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57200" y="1755648"/>
            <a:ext cx="26334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sector crece al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18 % anual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2578608"/>
            <a:ext cx="2633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DENUE 2024→2025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73552" y="960120"/>
            <a:ext cx="2633472" cy="2331720"/>
          </a:xfrm>
          <a:prstGeom prst="roundRect">
            <a:avLst>
              <a:gd name="adj" fmla="val 4706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73552" y="1078992"/>
            <a:ext cx="2633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📜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3273552" y="1755648"/>
            <a:ext cx="26334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ley ya exige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registros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73552" y="2578608"/>
            <a:ext cx="2633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NOM-031-SSA3-2012 · vigente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089904" y="960120"/>
            <a:ext cx="2633472" cy="2331720"/>
          </a:xfrm>
          <a:prstGeom prst="roundRect">
            <a:avLst>
              <a:gd name="adj" fmla="val 4706"/>
            </a:avLst>
          </a:prstGeom>
          <a:solidFill>
            <a:srgbClr val="FFF7ED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089904" y="1078992"/>
            <a:ext cx="2633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❌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6089904" y="1755648"/>
            <a:ext cx="26334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competidores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los generan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89904" y="2578608"/>
            <a:ext cx="2633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Cronos Care · GERIGES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14800" y="3401568"/>
            <a:ext cx="6583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2800" dirty="0"/>
          </a:p>
        </p:txBody>
      </p:sp>
      <p:sp>
        <p:nvSpPr>
          <p:cNvPr id="23" name="Shape 21"/>
          <p:cNvSpPr/>
          <p:nvPr/>
        </p:nvSpPr>
        <p:spPr>
          <a:xfrm>
            <a:off x="457200" y="3977640"/>
            <a:ext cx="8375904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40080" y="4041648"/>
            <a:ext cx="8010144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primero que llegue con trazabilidad operativa real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convierte en el estándar del sector.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1645920" y="5029200"/>
            <a:ext cx="5541264" cy="749808"/>
          </a:xfrm>
          <a:prstGeom prst="roundRect">
            <a:avLst>
              <a:gd name="adj" fmla="val 975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645920" y="5093208"/>
            <a:ext cx="55412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🤝  Buscamos 2–3 residencias piloto · Primer trimestre 2027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7200" y="5669280"/>
            <a:ext cx="8375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Gracias.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57200" y="6035040"/>
            <a:ext cx="83759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Roberto García  ·  robertogarciaits@gmail.com  ·  linkedin.com/in/robertogarciaits  ·  844 588 1313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 · v0.1.0-workshop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B5ACD39-2BF5-DFB7-C8D4-F8674BD1B204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0686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1291</Words>
  <Application>Microsoft Office PowerPoint</Application>
  <PresentationFormat>Widescreen</PresentationFormat>
  <Paragraphs>321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7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Roberto Garcia</cp:lastModifiedBy>
  <cp:revision>6</cp:revision>
  <dcterms:created xsi:type="dcterms:W3CDTF">2026-08-31T23:54:30Z</dcterms:created>
  <dcterms:modified xsi:type="dcterms:W3CDTF">2026-09-01T23:41:10Z</dcterms:modified>
</cp:coreProperties>
</file>