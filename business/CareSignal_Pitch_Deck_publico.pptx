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11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7915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4389120"/>
            <a:ext cx="3840480" cy="3840480"/>
          </a:xfrm>
          <a:prstGeom prst="ellipse">
            <a:avLst/>
          </a:prstGeom>
          <a:solidFill>
            <a:srgbClr val="A8C4DC">
              <a:alpha val="18000"/>
            </a:srgbClr>
          </a:solidFill>
          <a:ln w="12700">
            <a:solidFill>
              <a:srgbClr val="A8C4DC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05840" y="-1097280"/>
            <a:ext cx="2926080" cy="2926080"/>
          </a:xfrm>
          <a:prstGeom prst="ellipse">
            <a:avLst/>
          </a:prstGeom>
          <a:solidFill>
            <a:srgbClr val="C4786A">
              <a:alpha val="12000"/>
            </a:srgbClr>
          </a:solidFill>
          <a:ln w="12700">
            <a:solidFill>
              <a:srgbClr val="C4786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0" y="1645920"/>
            <a:ext cx="54864" cy="2194560"/>
          </a:xfrm>
          <a:prstGeom prst="rect">
            <a:avLst/>
          </a:prstGeom>
          <a:solidFill>
            <a:srgbClr val="5B8DB8">
              <a:alpha val="45000"/>
            </a:srgbClr>
          </a:solidFill>
          <a:ln w="12700">
            <a:solidFill>
              <a:srgbClr val="5B8DB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🛡️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463040" y="86868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CareSignal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63040" y="16916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operativa para residencias de adultos mayores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8375904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⏱️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automática 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rondas atrasadas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91840" y="25603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291840" y="32918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Bitácora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inmutable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25603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🔔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26480" y="32918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en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real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supervisor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89204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Roberto Garcia |  WomenCISO 4 / MenCISO 1  |  </a:t>
            </a:r>
            <a:r>
              <a:rPr lang="en-US" sz="1200" dirty="0" err="1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Septiembre</a:t>
            </a: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172200"/>
            <a:ext cx="8806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v0.1.0-workshop  ·  MVP operacional  ·  No dispositivo médico  ·  Datos </a:t>
            </a:r>
            <a:r>
              <a:rPr lang="en-US" dirty="0" err="1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sintéticos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1371600"/>
            <a:ext cx="3474720" cy="3474720"/>
          </a:xfrm>
          <a:prstGeom prst="ellipse">
            <a:avLst/>
          </a:prstGeom>
          <a:solidFill>
            <a:srgbClr val="7BA68A">
              <a:alpha val="16000"/>
            </a:srgbClr>
          </a:solidFill>
          <a:ln w="12700">
            <a:solidFill>
              <a:srgbClr val="7BA68A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365760" y="5303520"/>
            <a:ext cx="2011680" cy="2011680"/>
          </a:xfrm>
          <a:prstGeom prst="ellipse">
            <a:avLst/>
          </a:prstGeom>
          <a:solidFill>
            <a:srgbClr val="A8C4DC">
              <a:alpha val="20000"/>
            </a:srgbClr>
          </a:solidFill>
          <a:ln w="12700">
            <a:solidFill>
              <a:srgbClr val="A8C4D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080000">
            <a:off x="274320" y="5943600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6722252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ya llegó para cientos de millones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mayores de 65 años en el mundo · 2023–2050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371600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44475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🌎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5760" y="1874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México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148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 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5760" y="263347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 años · CONAPO 2025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40280" y="1371600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40280" y="144475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🌎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240280" y="1874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América Latina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40280" y="2148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 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240280" y="263347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65+ años · CEPAL 2024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0" y="1371600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0" y="144475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🌎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114800" y="1874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EE. UU.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2148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 M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114800" y="263347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65+ años · Census 2023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989320" y="1371600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89320" y="144475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989320" y="1874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Japón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89320" y="2148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M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989320" y="263347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65+ años · Stat. JP 2023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520440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35935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65760" y="4023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297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7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770 M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65760" y="478231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WPP 2022 (se estima)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926080" y="3520440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926080" y="35935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926080" y="4023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2050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926080" y="4297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7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1,600 M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2926080" y="478231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Proyección ONU (se estima)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" y="3383280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46320" y="352044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2050 habrá casi el doble de la población actual de China viviendo esta realidad.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57200" y="6291072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CONAPO · CEPAL · US Census Bureau · Statistics Japan · UN WPP 2022  ·  Cifras internacionales "se estima"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4389120"/>
            <a:ext cx="3840480" cy="3840480"/>
          </a:xfrm>
          <a:prstGeom prst="ellipse">
            <a:avLst/>
          </a:prstGeom>
          <a:solidFill>
            <a:srgbClr val="A8C4DC">
              <a:alpha val="18000"/>
            </a:srgbClr>
          </a:solidFill>
          <a:ln w="12700">
            <a:solidFill>
              <a:srgbClr val="A8C4DC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05840" y="-1097280"/>
            <a:ext cx="2926080" cy="2926080"/>
          </a:xfrm>
          <a:prstGeom prst="ellipse">
            <a:avLst/>
          </a:prstGeom>
          <a:solidFill>
            <a:srgbClr val="C4786A">
              <a:alpha val="12000"/>
            </a:srgbClr>
          </a:solidFill>
          <a:ln w="12700">
            <a:solidFill>
              <a:srgbClr val="C4786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0" y="1645920"/>
            <a:ext cx="54864" cy="2194560"/>
          </a:xfrm>
          <a:prstGeom prst="rect">
            <a:avLst/>
          </a:prstGeom>
          <a:solidFill>
            <a:srgbClr val="5B8DB8">
              <a:alpha val="45000"/>
            </a:srgbClr>
          </a:solidFill>
          <a:ln w="12700">
            <a:solidFill>
              <a:srgbClr val="5B8DB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0" y="64008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🤝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momento de confianza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743200" y="2468880"/>
            <a:ext cx="3474720" cy="0"/>
          </a:xfrm>
          <a:prstGeom prst="line">
            <a:avLst/>
          </a:prstGeom>
          <a:noFill/>
          <a:ln w="254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7498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llevas a ese familiar, a ese ser querido, a una residencia,</a:t>
            </a:r>
            <a:endParaRPr lang="en-US" sz="2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estás confiando lo más valioso que tienes —</a:t>
            </a:r>
            <a:endParaRPr lang="en-US" sz="2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tiempo, su dignidad, su seguridad.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80160" y="443484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80160" y="44348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49040" y="443484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49040" y="44348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Dignidad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443484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44348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291072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operacional · No dispositivo médico · Datos </a:t>
            </a:r>
            <a:r>
              <a:rPr lang="en-US" dirty="0" err="1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sintéticos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1371600"/>
            <a:ext cx="3474720" cy="3474720"/>
          </a:xfrm>
          <a:prstGeom prst="ellipse">
            <a:avLst/>
          </a:prstGeom>
          <a:solidFill>
            <a:srgbClr val="7BA68A">
              <a:alpha val="16000"/>
            </a:srgbClr>
          </a:solidFill>
          <a:ln w="12700">
            <a:solidFill>
              <a:srgbClr val="7BA68A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365760" y="5303520"/>
            <a:ext cx="2011680" cy="2011680"/>
          </a:xfrm>
          <a:prstGeom prst="ellipse">
            <a:avLst/>
          </a:prstGeom>
          <a:solidFill>
            <a:srgbClr val="A8C4DC">
              <a:alpha val="20000"/>
            </a:srgbClr>
          </a:solidFill>
          <a:ln w="12700">
            <a:solidFill>
              <a:srgbClr val="A8C4D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080000">
            <a:off x="274320" y="5943600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El </a:t>
            </a:r>
            <a:r>
              <a:rPr lang="en-US" b="1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la </a:t>
            </a:r>
            <a:r>
              <a:rPr lang="en-US" b="1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</a:t>
            </a: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operativa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el cuidado ocurre — o no ocurre — y nadie lo sabe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A8C4D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417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5760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Ronda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173736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487168" y="132588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87168" y="1417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🚶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487168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¿Cuidador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 a verlo?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15968" y="173736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608576" y="132588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DE68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08576" y="1417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❓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08576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registro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evidencia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37376" y="173736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729984" y="132588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ECAC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29984" y="1417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😰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729984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lo sabe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que es tarde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337560"/>
            <a:ext cx="8375904" cy="960120"/>
          </a:xfrm>
          <a:prstGeom prst="roundRect">
            <a:avLst>
              <a:gd name="adj" fmla="val 7619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34015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371600" y="3401568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ejemplo: en una residencia con 50 adultos mayores se realizan cerca de 450 rondas por semana.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una es una oportunidad de que el cuidado ocurra — o de que no ocurra y nadie lo detecte.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291072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operacional · No dispositivo médico · Datos </a:t>
            </a:r>
            <a:r>
              <a:rPr lang="en-US" dirty="0" err="1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sintéticos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38160" y="0"/>
            <a:ext cx="694944" cy="6858000"/>
          </a:xfrm>
          <a:prstGeom prst="rect">
            <a:avLst/>
          </a:prstGeom>
          <a:solidFill>
            <a:srgbClr val="A8C4DC">
              <a:alpha val="12000"/>
            </a:srgbClr>
          </a:solidFill>
          <a:ln w="12700">
            <a:solidFill>
              <a:srgbClr val="A8C4DC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0" y="5120640"/>
            <a:ext cx="2377440" cy="2377440"/>
          </a:xfrm>
          <a:prstGeom prst="ellipse">
            <a:avLst/>
          </a:prstGeom>
          <a:solidFill>
            <a:srgbClr val="C4786A">
              <a:alpha val="10000"/>
            </a:srgbClr>
          </a:solidFill>
          <a:ln w="12700">
            <a:solidFill>
              <a:srgbClr val="C4786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  El </a:t>
            </a:r>
            <a:r>
              <a:rPr lang="en-US" b="1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la </a:t>
            </a:r>
            <a:r>
              <a:rPr lang="en-US" b="1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</a:t>
            </a: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administrativo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registro confiable, no hay defensa posible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8375904" cy="1143000"/>
          </a:xfrm>
          <a:prstGeom prst="roundRect">
            <a:avLst>
              <a:gd name="adj" fmla="val 8000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58191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👨‍👩‍👧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508760" y="1508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familia llama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1920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47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no hay respuesta.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8375904" cy="1143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90779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508760" y="2834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inspección llega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246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47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no hay evidencia.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8375904" cy="1143000"/>
          </a:xfrm>
          <a:prstGeom prst="roundRect">
            <a:avLst>
              <a:gd name="adj" fmla="val 8000"/>
            </a:avLst>
          </a:prstGeom>
          <a:solidFill>
            <a:srgbClr val="FECAC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423367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508760" y="4160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abogado pregunta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4572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47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no hay defensa.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5943600"/>
            <a:ext cx="8375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registro auditable, el director no puede demostrar que el cuidado ocurrió — en ningún escenario.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291072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operacional · No dispositivo médico · Datos </a:t>
            </a:r>
            <a:r>
              <a:rPr lang="en-US" dirty="0" err="1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sintéticos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4389120"/>
            <a:ext cx="3840480" cy="3840480"/>
          </a:xfrm>
          <a:prstGeom prst="ellipse">
            <a:avLst/>
          </a:prstGeom>
          <a:solidFill>
            <a:srgbClr val="A8C4DC">
              <a:alpha val="18000"/>
            </a:srgbClr>
          </a:solidFill>
          <a:ln w="12700">
            <a:solidFill>
              <a:srgbClr val="A8C4DC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05840" y="-1097280"/>
            <a:ext cx="2926080" cy="2926080"/>
          </a:xfrm>
          <a:prstGeom prst="ellipse">
            <a:avLst/>
          </a:prstGeom>
          <a:solidFill>
            <a:srgbClr val="C4786A">
              <a:alpha val="12000"/>
            </a:srgbClr>
          </a:solidFill>
          <a:ln w="12700">
            <a:solidFill>
              <a:srgbClr val="C4786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0" y="1645920"/>
            <a:ext cx="54864" cy="2194560"/>
          </a:xfrm>
          <a:prstGeom prst="rect">
            <a:avLst/>
          </a:prstGeom>
          <a:solidFill>
            <a:srgbClr val="5B8DB8">
              <a:alpha val="45000"/>
            </a:srgbClr>
          </a:solidFill>
          <a:ln w="12700">
            <a:solidFill>
              <a:srgbClr val="5B8DB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Marco legal — exposición permanente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regulación ya exige los registros — sin fecha ni aviso previo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261872"/>
            <a:ext cx="8375904" cy="1170432"/>
          </a:xfrm>
          <a:prstGeom prst="roundRect">
            <a:avLst>
              <a:gd name="adj" fmla="val 7813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151790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📜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17320" y="139903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NOM-031-SSA3-2012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1764792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Exige expediente administrativo permanente por residente, reglamento interno y bitácoras de operación.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587752"/>
            <a:ext cx="8375904" cy="1170432"/>
          </a:xfrm>
          <a:prstGeom prst="roundRect">
            <a:avLst>
              <a:gd name="adj" fmla="val 7813"/>
            </a:avLst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84378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417320" y="272491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CNDH ISP-12/2020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090672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Muestreo en residencias documentó abandono, falta de personal y deficiencias operativas — sin sistemas de gestión.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13632"/>
            <a:ext cx="8375904" cy="1170432"/>
          </a:xfrm>
          <a:prstGeom prst="roundRect">
            <a:avLst>
              <a:gd name="adj" fmla="val 7813"/>
            </a:avLst>
          </a:prstGeom>
          <a:solidFill>
            <a:srgbClr val="FECAC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416966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417320" y="405079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General de Salud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4416552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419: multas por incumplimiento pueden superar $234,000 MXN — y cualquier inspección, queja o demanda puede llegar sin aviso.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291072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DOF · CNDH · Ley General de Salud Art. 419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138160" y="0"/>
            <a:ext cx="694944" cy="6858000"/>
          </a:xfrm>
          <a:prstGeom prst="rect">
            <a:avLst/>
          </a:prstGeom>
          <a:solidFill>
            <a:srgbClr val="A8C4DC">
              <a:alpha val="12000"/>
            </a:srgbClr>
          </a:solidFill>
          <a:ln w="12700">
            <a:solidFill>
              <a:srgbClr val="A8C4DC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0" y="5120640"/>
            <a:ext cx="2377440" cy="2377440"/>
          </a:xfrm>
          <a:prstGeom prst="ellipse">
            <a:avLst/>
          </a:prstGeom>
          <a:solidFill>
            <a:srgbClr val="C4786A">
              <a:alpha val="10000"/>
            </a:srgbClr>
          </a:solidFill>
          <a:ln w="12700">
            <a:solidFill>
              <a:srgbClr val="C4786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CareSignal — la solución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sistema diseñado para resolver los dos fallos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261872"/>
            <a:ext cx="3977640" cy="978408"/>
          </a:xfrm>
          <a:prstGeom prst="roundRect">
            <a:avLst>
              <a:gd name="adj" fmla="val 2105"/>
            </a:avLst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37160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7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Fallo operativo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1783080"/>
            <a:ext cx="37033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187452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Ronda no ocurre y nadie lo detecta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32020" y="1266445"/>
            <a:ext cx="3977640" cy="960120"/>
          </a:xfrm>
          <a:prstGeom prst="roundRect">
            <a:avLst>
              <a:gd name="adj" fmla="val 2105"/>
            </a:avLst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137160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A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  </a:t>
            </a:r>
            <a:r>
              <a:rPr lang="en-US" sz="1400" b="1" dirty="0">
                <a:solidFill>
                  <a:srgbClr val="C4786A"/>
                </a:solidFill>
                <a:latin typeface="Arial" pitchFamily="34" charset="0"/>
                <a:cs typeface="Arial" pitchFamily="34" charset="-120"/>
              </a:rPr>
              <a:t>Fallo administrativo</a:t>
            </a:r>
          </a:p>
        </p:txBody>
      </p:sp>
      <p:sp>
        <p:nvSpPr>
          <p:cNvPr id="22" name="Shape 20"/>
          <p:cNvSpPr/>
          <p:nvPr/>
        </p:nvSpPr>
        <p:spPr>
          <a:xfrm>
            <a:off x="4983480" y="1783080"/>
            <a:ext cx="37033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187452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registro confiable ni evidencia auditable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5019436"/>
            <a:ext cx="8375904" cy="685800"/>
          </a:xfrm>
          <a:prstGeom prst="roundRect">
            <a:avLst>
              <a:gd name="adj" fmla="val 10667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5029200"/>
            <a:ext cx="8010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director tiene evidencia lista ante cualquier inspección, queja o demanda — en todo momento.</a:t>
            </a:r>
            <a:endParaRPr lang="en-US" sz="1300" dirty="0"/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1D66D282-66FE-A8E9-64AF-DE5882472691}"/>
              </a:ext>
            </a:extLst>
          </p:cNvPr>
          <p:cNvSpPr/>
          <p:nvPr/>
        </p:nvSpPr>
        <p:spPr>
          <a:xfrm>
            <a:off x="4732020" y="2782371"/>
            <a:ext cx="3977640" cy="20737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57200" y="6291072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operacional · No dispositivo médico · Datos </a:t>
            </a:r>
            <a:r>
              <a:rPr lang="en-US" dirty="0" err="1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sintéticos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06340" y="2892447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06340" y="3578247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006340" y="4264047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600700" y="2892447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Bitácora inmutable: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quién, cuándo, qué resultado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00700" y="3578247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papel, sin transcripción,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trabajo extra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00700" y="4264047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lista ante cualquier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inspección, queja o demanda</a:t>
            </a:r>
            <a:endParaRPr lang="en-US" sz="1300" dirty="0"/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B9281D72-1063-D73D-F901-32DF6FA23612}"/>
              </a:ext>
            </a:extLst>
          </p:cNvPr>
          <p:cNvSpPr/>
          <p:nvPr/>
        </p:nvSpPr>
        <p:spPr>
          <a:xfrm>
            <a:off x="457200" y="2782371"/>
            <a:ext cx="3977640" cy="211121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2940" y="298032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57300" y="2980324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 automáticamente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una ronda no ocurre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" y="366612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57300" y="3666124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al supervisor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tiempo real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" y="435192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57300" y="4351924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Asignación, escalación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seguimiento del cuidador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1371600"/>
            <a:ext cx="3474720" cy="3474720"/>
          </a:xfrm>
          <a:prstGeom prst="ellipse">
            <a:avLst/>
          </a:prstGeom>
          <a:solidFill>
            <a:srgbClr val="7BA68A">
              <a:alpha val="16000"/>
            </a:srgbClr>
          </a:solidFill>
          <a:ln w="12700">
            <a:solidFill>
              <a:srgbClr val="7BA68A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365760" y="5303520"/>
            <a:ext cx="2011680" cy="2011680"/>
          </a:xfrm>
          <a:prstGeom prst="ellipse">
            <a:avLst/>
          </a:prstGeom>
          <a:solidFill>
            <a:srgbClr val="A8C4DC">
              <a:alpha val="20000"/>
            </a:srgbClr>
          </a:solidFill>
          <a:ln w="12700">
            <a:solidFill>
              <a:srgbClr val="A8C4D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080000">
            <a:off x="274320" y="5943600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Tamaño de mercado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México · SaaS B2B · por residencia / mes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261872"/>
            <a:ext cx="8375904" cy="1371600"/>
          </a:xfrm>
          <a:prstGeom prst="roundRect">
            <a:avLst>
              <a:gd name="adj" fmla="val 6667"/>
            </a:avLst>
          </a:prstGeom>
          <a:solidFill>
            <a:srgbClr val="A8C4D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133502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total cuidados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geriátricos MX + LatAm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14904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USD 25,000 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2423160"/>
            <a:ext cx="7552944" cy="1325880"/>
          </a:xfrm>
          <a:prstGeom prst="roundRect">
            <a:avLst>
              <a:gd name="adj" fmla="val 6897"/>
            </a:avLst>
          </a:prstGeom>
          <a:solidFill>
            <a:srgbClr val="D1E8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33272" y="253288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011680" y="2496312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~1,100–1,300 residencias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privadas formales en MX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67227" y="2651760"/>
            <a:ext cx="12786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DENUE 2025 · +18 % anual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280160" y="3547872"/>
            <a:ext cx="6729984" cy="1325880"/>
          </a:xfrm>
          <a:prstGeom prst="roundRect">
            <a:avLst>
              <a:gd name="adj" fmla="val 6897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44752" y="36576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423160" y="362102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3–5 años: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50–200 residencias piloto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90275" y="3776472"/>
            <a:ext cx="236349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$175K – $700K MXN/mes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5047488"/>
            <a:ext cx="8375904" cy="594360"/>
          </a:xfrm>
          <a:prstGeom prst="roundRect">
            <a:avLst>
              <a:gd name="adj" fmla="val 12308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5120640"/>
            <a:ext cx="8010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El registro del sector creció +18 % en un año (DENUE 2024→2025) — mercado en expansión activa.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199" y="6007608"/>
            <a:ext cx="11604357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DENUE 2025 · IMARC Group · Grand View Research  ·  Precios de </a:t>
            </a:r>
            <a:r>
              <a:rPr lang="en-US" dirty="0" err="1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</a:t>
            </a: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estimados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4389120"/>
            <a:ext cx="3840480" cy="3840480"/>
          </a:xfrm>
          <a:prstGeom prst="ellipse">
            <a:avLst/>
          </a:prstGeom>
          <a:solidFill>
            <a:srgbClr val="A8C4DC">
              <a:alpha val="18000"/>
            </a:srgbClr>
          </a:solidFill>
          <a:ln w="12700">
            <a:solidFill>
              <a:srgbClr val="A8C4DC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05840" y="-1097280"/>
            <a:ext cx="2926080" cy="2926080"/>
          </a:xfrm>
          <a:prstGeom prst="ellipse">
            <a:avLst/>
          </a:prstGeom>
          <a:solidFill>
            <a:srgbClr val="C4786A">
              <a:alpha val="12000"/>
            </a:srgbClr>
          </a:solidFill>
          <a:ln w="12700">
            <a:solidFill>
              <a:srgbClr val="C4786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¿Por qué CareSignal?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más modela el ciclo operativo de la ronda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188720"/>
            <a:ext cx="8375904" cy="457200"/>
          </a:xfrm>
          <a:prstGeom prst="roundRect">
            <a:avLst>
              <a:gd name="adj" fmla="val 10000"/>
            </a:avLst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2344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CareSignal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12344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Cronos Care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12280" y="12344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GERIGES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645920"/>
            <a:ext cx="8375904" cy="530352"/>
          </a:xfrm>
          <a:prstGeom prst="roundRect">
            <a:avLst>
              <a:gd name="adj" fmla="val 6897"/>
            </a:avLst>
          </a:prstGeom>
          <a:solidFill>
            <a:srgbClr val="F0EDE8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17190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de ronda atrasada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46120" y="169164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83480" y="169164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20840" y="169164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" y="2240280"/>
            <a:ext cx="837590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231343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automática al supervisor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46120" y="228600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983480" y="228600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20840" y="228600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57200" y="2834640"/>
            <a:ext cx="8375904" cy="530352"/>
          </a:xfrm>
          <a:prstGeom prst="roundRect">
            <a:avLst>
              <a:gd name="adj" fmla="val 6897"/>
            </a:avLst>
          </a:prstGeom>
          <a:solidFill>
            <a:srgbClr val="F0EDE8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290779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Bitácora de auditoría inmutable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46120" y="288036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83480" y="288036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720840" y="288036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57200" y="3429000"/>
            <a:ext cx="837590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350215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completo alerta→cierre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246120" y="347472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983480" y="347472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720840" y="347472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57200" y="4023360"/>
            <a:ext cx="8375904" cy="530352"/>
          </a:xfrm>
          <a:prstGeom prst="roundRect">
            <a:avLst>
              <a:gd name="adj" fmla="val 6897"/>
            </a:avLst>
          </a:prstGeom>
          <a:solidFill>
            <a:srgbClr val="F0EDE8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8640" y="409651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publicado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246120" y="406908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983480" y="406908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720840" y="406908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457200" y="4617720"/>
            <a:ext cx="837590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48640" y="46908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Expediente / historial residente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3246120" y="466344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983480" y="466344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720840" y="466344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57199" y="5934456"/>
            <a:ext cx="10372241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= funcionalidad parcial o no confirmada  ·  Fuente: investigación pública agosto 2026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138160" y="0"/>
            <a:ext cx="694944" cy="6858000"/>
          </a:xfrm>
          <a:prstGeom prst="rect">
            <a:avLst/>
          </a:prstGeom>
          <a:solidFill>
            <a:srgbClr val="A8C4DC">
              <a:alpha val="12000"/>
            </a:srgbClr>
          </a:solidFill>
          <a:ln w="12700">
            <a:solidFill>
              <a:srgbClr val="A8C4DC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0" y="5120640"/>
            <a:ext cx="2377440" cy="2377440"/>
          </a:xfrm>
          <a:prstGeom prst="ellipse">
            <a:avLst/>
          </a:prstGeom>
          <a:solidFill>
            <a:srgbClr val="C4786A">
              <a:alpha val="10000"/>
            </a:srgbClr>
          </a:solidFill>
          <a:ln w="12700">
            <a:solidFill>
              <a:srgbClr val="C4786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🏅  Demo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" y="6291072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operacional · No dispositivo médico · Datos </a:t>
            </a:r>
            <a:r>
              <a:rPr lang="en-US" dirty="0" err="1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sintéticos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1371600"/>
            <a:ext cx="3474720" cy="3474720"/>
          </a:xfrm>
          <a:prstGeom prst="ellipse">
            <a:avLst/>
          </a:prstGeom>
          <a:solidFill>
            <a:srgbClr val="7BA68A">
              <a:alpha val="16000"/>
            </a:srgbClr>
          </a:solidFill>
          <a:ln w="12700">
            <a:solidFill>
              <a:srgbClr val="7BA68A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365760" y="5303520"/>
            <a:ext cx="2011680" cy="2011680"/>
          </a:xfrm>
          <a:prstGeom prst="ellipse">
            <a:avLst/>
          </a:prstGeom>
          <a:solidFill>
            <a:srgbClr val="A8C4DC">
              <a:alpha val="20000"/>
            </a:srgbClr>
          </a:solidFill>
          <a:ln w="12700">
            <a:solidFill>
              <a:srgbClr val="A8C4D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080000">
            <a:off x="274320" y="5943600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Modelo de negocio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+ SaaS B2B · por residencia / mes · margen bruto &gt; 80 %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64592" y="1261872"/>
            <a:ext cx="2011680" cy="4206240"/>
          </a:xfrm>
          <a:prstGeom prst="roundRect">
            <a:avLst>
              <a:gd name="adj" fmla="val 5455"/>
            </a:avLst>
          </a:prstGeom>
          <a:solidFill>
            <a:srgbClr val="F0FAF4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4592" y="1417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Operacional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4592" y="1828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4592" y="2423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tarjeta · sin límite de tiempo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1752" y="2816352"/>
            <a:ext cx="1737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6032" y="29260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8 residentes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" y="34198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usuario activo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" y="391363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Rondas básicas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" y="440740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responsabilidad legal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40864" y="1261872"/>
            <a:ext cx="2011680" cy="4206240"/>
          </a:xfrm>
          <a:prstGeom prst="roundRect">
            <a:avLst>
              <a:gd name="adj" fmla="val 5455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340864" y="1417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Esencial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40864" y="1828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$1,990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340864" y="2423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MXN / mes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78024" y="2816352"/>
            <a:ext cx="1737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432304" y="29260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30 residentes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32304" y="34198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usuarios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32304" y="391363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+ auditoría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432304" y="440740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Residencias pequeñas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17136" y="1261872"/>
            <a:ext cx="2011680" cy="4206240"/>
          </a:xfrm>
          <a:prstGeom prst="roundRect">
            <a:avLst>
              <a:gd name="adj" fmla="val 5455"/>
            </a:avLst>
          </a:prstGeom>
          <a:solidFill>
            <a:srgbClr val="EFF6FF"/>
          </a:solidFill>
          <a:ln w="1905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91456" y="1188720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91456" y="11887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spot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17136" y="1417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Profesional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17136" y="1828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$3,990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4517136" y="2423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MXN / mes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54296" y="2816352"/>
            <a:ext cx="1737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08576" y="29260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80 residentes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08576" y="34198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10 usuarios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08576" y="391363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supervisor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08576" y="440740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Residencias medianas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693408" y="1261872"/>
            <a:ext cx="2011680" cy="4206240"/>
          </a:xfrm>
          <a:prstGeom prst="roundRect">
            <a:avLst>
              <a:gd name="adj" fmla="val 5455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693408" y="1417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Institucional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93408" y="1828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$8,490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6693408" y="2423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MXN / mes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830568" y="2816352"/>
            <a:ext cx="1737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784848" y="29260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límite · multi-sede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784848" y="34198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límite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784848" y="391363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+ soporte dedicado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84848" y="440740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Cadenas institucionales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5888736"/>
            <a:ext cx="11135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Precios de referencia — no validados con clientes reales. El tier Freemium opera sin SLA ni </a:t>
            </a:r>
            <a:r>
              <a:rPr lang="en-US" dirty="0" err="1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</a:t>
            </a: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legal.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38160" y="0"/>
            <a:ext cx="694944" cy="6858000"/>
          </a:xfrm>
          <a:prstGeom prst="rect">
            <a:avLst/>
          </a:prstGeom>
          <a:solidFill>
            <a:srgbClr val="A8C4DC">
              <a:alpha val="12000"/>
            </a:srgbClr>
          </a:solidFill>
          <a:ln w="12700">
            <a:solidFill>
              <a:srgbClr val="A8C4DC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0" y="5120640"/>
            <a:ext cx="2377440" cy="2377440"/>
          </a:xfrm>
          <a:prstGeom prst="ellipse">
            <a:avLst/>
          </a:prstGeom>
          <a:solidFill>
            <a:srgbClr val="C4786A">
              <a:alpha val="10000"/>
            </a:srgbClr>
          </a:solidFill>
          <a:ln w="12700">
            <a:solidFill>
              <a:srgbClr val="C4786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IA y Ciberseguridad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375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sensibles por ley · arquitectura en GCP · roadmap de IA operativa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261872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37160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7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Ciberseguridad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1783080"/>
            <a:ext cx="370332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1920240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📜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1920240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LFPDPPP — datos de adultos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mayores son datos sensibles por ley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2578608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2578608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Run + Firebase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cifrado extremo a extremo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3236976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3236976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dato de residente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 del dispositivo — privacidad por diseño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88720" y="3895344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de ciberseguridad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activo 24 h sobre Gemini API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46320" y="1261872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83480" y="137160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IA Operativa — roadmap v0.2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83480" y="1783080"/>
            <a:ext cx="370332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83480" y="1920240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77840" y="192024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predictivas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histórico de tiempos de ronda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83480" y="2578608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77840" y="2578608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de anomalías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bitácora de auditoría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83480" y="3236976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577840" y="3236976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de asignación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cuidadores por turno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983480" y="3895344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577840" y="389534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ejecutivo automático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turno — sin transcripción manual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434840" y="1417320"/>
            <a:ext cx="0" cy="29260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315968" y="26060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57200" y="4663440"/>
            <a:ext cx="8375904" cy="749808"/>
          </a:xfrm>
          <a:prstGeom prst="roundRect">
            <a:avLst>
              <a:gd name="adj" fmla="val 9756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66928" y="47731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280160" y="4736592"/>
            <a:ext cx="7406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bitácora de 20 tipos de evento por turno es el insumo nativo para toda la IA operativa 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integración externa, sin datos sintéticos.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38160" y="0"/>
            <a:ext cx="694944" cy="6858000"/>
          </a:xfrm>
          <a:prstGeom prst="rect">
            <a:avLst/>
          </a:prstGeom>
          <a:solidFill>
            <a:srgbClr val="A8C4DC">
              <a:alpha val="12000"/>
            </a:srgbClr>
          </a:solidFill>
          <a:ln w="12700">
            <a:solidFill>
              <a:srgbClr val="A8C4DC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0" y="5120640"/>
            <a:ext cx="2377440" cy="2377440"/>
          </a:xfrm>
          <a:prstGeom prst="ellipse">
            <a:avLst/>
          </a:prstGeom>
          <a:solidFill>
            <a:srgbClr val="C4786A">
              <a:alpha val="10000"/>
            </a:srgbClr>
          </a:solidFill>
          <a:ln w="12700">
            <a:solidFill>
              <a:srgbClr val="C4786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01168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👨‍👩‍👧  Fase paralela — Mercado familiar (B2C)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713232"/>
            <a:ext cx="8375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plataforma · dos puertas de entrada · conversión cruzada B2C → B2B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1060704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170432"/>
            <a:ext cx="3840480" cy="3383280"/>
          </a:xfrm>
          <a:prstGeom prst="roundRect">
            <a:avLst>
              <a:gd name="adj" fmla="val 2162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243584"/>
            <a:ext cx="3547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(canal actual)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6459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1645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16459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 de residencia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1031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6112" y="21031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0" y="21031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$1,990 – $8,490 MXN/mes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25603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" y="25603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venta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25603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2–6 meses · B2B largo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30175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📣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6112" y="30175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Adquisición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30175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de campo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34747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6112" y="34747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México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11680" y="34747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~1,200 residencias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60520" y="26517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4626864" y="1170432"/>
            <a:ext cx="4151376" cy="3383280"/>
          </a:xfrm>
          <a:prstGeom prst="roundRect">
            <a:avLst>
              <a:gd name="adj" fmla="val 2162"/>
            </a:avLst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36592" y="124358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7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— Fase paralela  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36592" y="16459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👪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38928" y="16459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54496" y="16459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 de adulto mayor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36592" y="21031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💰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38928" y="21031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54496" y="21031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$199 – $399 MXN/mes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36592" y="25603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38928" y="25603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venta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54496" y="25603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 min · autoservicio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36592" y="30175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138928" y="30175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Adquisición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54496" y="30175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stores · redes sociales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736592" y="34747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138928" y="34747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México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54496" y="34747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~2M familias con cuidado activo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5760" y="4663440"/>
            <a:ext cx="8375904" cy="1005840"/>
          </a:xfrm>
          <a:prstGeom prst="roundRect">
            <a:avLst>
              <a:gd name="adj" fmla="val 7273"/>
            </a:avLst>
          </a:prstGeom>
          <a:solidFill>
            <a:srgbClr val="F0FAF4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4864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A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El flywheel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5047488"/>
            <a:ext cx="1078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 adopta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CareSignal en casa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627632" y="5047488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2798064" y="5047488"/>
            <a:ext cx="1078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Familiar ingresa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una residencia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968496" y="5047488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138928" y="5047488"/>
            <a:ext cx="1078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 recomienda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CareSignal al director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09360" y="5047488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479792" y="5047488"/>
            <a:ext cx="1078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Residencia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 (B2B)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5879592"/>
            <a:ext cx="1117427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Fase B2C proyectada — requiere versión móvil y validación de mercado. No comprometida en v0.1.0.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4389120"/>
            <a:ext cx="3840480" cy="3840480"/>
          </a:xfrm>
          <a:prstGeom prst="ellipse">
            <a:avLst/>
          </a:prstGeom>
          <a:solidFill>
            <a:srgbClr val="A8C4DC">
              <a:alpha val="18000"/>
            </a:srgbClr>
          </a:solidFill>
          <a:ln w="12700">
            <a:solidFill>
              <a:srgbClr val="A8C4DC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05840" y="-1097280"/>
            <a:ext cx="2926080" cy="2926080"/>
          </a:xfrm>
          <a:prstGeom prst="ellipse">
            <a:avLst/>
          </a:prstGeom>
          <a:solidFill>
            <a:srgbClr val="C4786A">
              <a:alpha val="12000"/>
            </a:srgbClr>
          </a:solidFill>
          <a:ln w="12700">
            <a:solidFill>
              <a:srgbClr val="C4786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0" y="1645920"/>
            <a:ext cx="54864" cy="2194560"/>
          </a:xfrm>
          <a:prstGeom prst="rect">
            <a:avLst/>
          </a:prstGeom>
          <a:solidFill>
            <a:srgbClr val="5B8DB8">
              <a:alpha val="45000"/>
            </a:srgbClr>
          </a:solidFill>
          <a:ln w="12700">
            <a:solidFill>
              <a:srgbClr val="5B8DB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6528816"/>
            <a:ext cx="12192000" cy="54864"/>
          </a:xfrm>
          <a:prstGeom prst="rect">
            <a:avLst/>
          </a:prstGeom>
          <a:solidFill>
            <a:srgbClr val="C4786A"/>
          </a:solidFill>
          <a:ln w="12700">
            <a:solidFill>
              <a:srgbClr val="C478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860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La oportunidad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804672"/>
            <a:ext cx="83759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960120"/>
            <a:ext cx="2633472" cy="2331720"/>
          </a:xfrm>
          <a:prstGeom prst="roundRect">
            <a:avLst>
              <a:gd name="adj" fmla="val 4706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078992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1755648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sector crece al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18 % anual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2578608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DENUE 2024→2025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73552" y="960120"/>
            <a:ext cx="2633472" cy="2331720"/>
          </a:xfrm>
          <a:prstGeom prst="roundRect">
            <a:avLst>
              <a:gd name="adj" fmla="val 4706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73552" y="1078992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📜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273552" y="1755648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ley ya exige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registros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73552" y="2578608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NOM-031-SSA3-2012 · vigente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9904" y="960120"/>
            <a:ext cx="2633472" cy="2331720"/>
          </a:xfrm>
          <a:prstGeom prst="roundRect">
            <a:avLst>
              <a:gd name="adj" fmla="val 4706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89904" y="1078992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❌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089904" y="1755648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competidores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los generan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89904" y="2578608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Cronos Care · GERIGES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0" y="3401568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8375904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4041648"/>
            <a:ext cx="80101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primero que llegue con trazabilidad operativa real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3A6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convierte en el estándar del sector.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645920" y="5029200"/>
            <a:ext cx="5541264" cy="749808"/>
          </a:xfrm>
          <a:prstGeom prst="roundRect">
            <a:avLst>
              <a:gd name="adj" fmla="val 9756"/>
            </a:avLst>
          </a:prstGeom>
          <a:solidFill>
            <a:srgbClr val="F0EDE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645920" y="5093208"/>
            <a:ext cx="55412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Buscamos 2–3 residencias piloto · Primer trimestre 2027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5669280"/>
            <a:ext cx="8375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7200" y="6035040"/>
            <a:ext cx="8375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8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Roberto García  ·  robertogarciaits@gmail.com  ·  linkedin.com/in/robertogarciaits  ·  844 588 1313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291072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operacional · No dispositivo médico · Datos ficticios · v0.1.0-workshop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1290</Words>
  <Application>Microsoft Office PowerPoint</Application>
  <PresentationFormat>Widescreen</PresentationFormat>
  <Paragraphs>320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Roberto Garcia</cp:lastModifiedBy>
  <cp:revision>3</cp:revision>
  <dcterms:created xsi:type="dcterms:W3CDTF">2026-08-31T23:54:30Z</dcterms:created>
  <dcterms:modified xsi:type="dcterms:W3CDTF">2026-09-01T01:51:30Z</dcterms:modified>
</cp:coreProperties>
</file>