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937760" cy="4937760"/>
          </a:xfrm>
          <a:prstGeom prst="ellipse">
            <a:avLst/>
          </a:prstGeom>
          <a:solidFill>
            <a:srgbClr val="1A4E5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1371600"/>
            <a:ext cx="164592" cy="164592"/>
          </a:xfrm>
          <a:prstGeom prst="ellipse">
            <a:avLst/>
          </a:prstGeom>
          <a:solidFill>
            <a:srgbClr val="0E8A8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59536" y="1371600"/>
            <a:ext cx="164592" cy="164592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52144" y="1371600"/>
            <a:ext cx="164592" cy="164592"/>
          </a:xfrm>
          <a:prstGeom prst="ellipse">
            <a:avLst/>
          </a:prstGeom>
          <a:solidFill>
            <a:srgbClr val="E0902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44752" y="1371600"/>
            <a:ext cx="164592" cy="164592"/>
          </a:xfrm>
          <a:prstGeom prst="ellipse">
            <a:avLst/>
          </a:prstGeom>
          <a:solidFill>
            <a:srgbClr val="E4695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600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FD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Casa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 para la familia cuando papá o mamá deciden quedarse en su hogar.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0E8A8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4526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B2C · FAMILIAS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de expansión · requiere nueva versión del producto (v0.2)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18872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F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125712" y="136245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D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870948" y="125272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F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125712" y="136245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0E8A8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25712" y="1682496"/>
            <a:ext cx="2002536" cy="246888"/>
          </a:xfrm>
          <a:prstGeom prst="rect">
            <a:avLst/>
          </a:prstGeom>
          <a:solidFill>
            <a:srgbClr val="0E8A8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272016" y="145389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72016" y="2075688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Doña Carmen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72016" y="2350008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21 de julio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60052" y="2734056"/>
            <a:ext cx="1133856" cy="113385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560052" y="2734056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272016" y="3977640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bien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72016" y="4288536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para confirmar tu día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272016" y="4654296"/>
            <a:ext cx="1709928" cy="384048"/>
          </a:xfrm>
          <a:prstGeom prst="roundRect">
            <a:avLst>
              <a:gd name="adj" fmla="val 23810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272016" y="465429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6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ayuda</a:t>
            </a:r>
            <a:endParaRPr lang="en-US" sz="1050" dirty="0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6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Quieren cuidar sin invadir — y desde lejos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adultos mayores prefiere quedarse en su casa. Sus hijos quieren saber que están bien, coordinarse entre hermanos y poder actuar a tiempo — muchas veces desde otra ciudad o país.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569464"/>
            <a:ext cx="384048" cy="384048"/>
          </a:xfrm>
          <a:prstGeom prst="ellipse">
            <a:avLst/>
          </a:prstGeom>
          <a:solidFill>
            <a:srgbClr val="E4695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569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98448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"¿Ya comió hoy?"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28986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tiene certeza de si las rutinas del día se cumplieron.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0" y="2569464"/>
            <a:ext cx="384048" cy="384048"/>
          </a:xfrm>
          <a:prstGeom prst="ellipse">
            <a:avLst/>
          </a:prstGeom>
          <a:solidFill>
            <a:srgbClr val="E4695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0" y="2569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22008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Descoordinación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22008" y="28986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hermanos no saben quién llamó, quién fue, ni qué pasó.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7240" y="4169664"/>
            <a:ext cx="384048" cy="384048"/>
          </a:xfrm>
          <a:prstGeom prst="ellipse">
            <a:avLst/>
          </a:prstGeom>
          <a:solidFill>
            <a:srgbClr val="E4695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98448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Reacción tardía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4988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falla, se enteran horas después — o por casualidad.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400800" y="4169664"/>
            <a:ext cx="384048" cy="384048"/>
          </a:xfrm>
          <a:prstGeom prst="ellipse">
            <a:avLst/>
          </a:prstGeom>
          <a:solidFill>
            <a:srgbClr val="E4695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22008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 y estrés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22008" y="44988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y la incertidumbre pesan en toda la familia.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en Casa · línea B2C · concepto (requiere contrato v0.2)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motor de CareSignal, para el hogar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 del día (medicina, comida, "estoy bien"), avisos automáticos a la familia si algo no se confirma, y una bitácora compartida — sin cámaras ni sensores.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participa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77340" y="2971800"/>
            <a:ext cx="640080" cy="640080"/>
          </a:xfrm>
          <a:prstGeom prst="ellipse">
            <a:avLst/>
          </a:prstGeom>
          <a:solidFill>
            <a:srgbClr val="0E8A8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7734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mayor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4251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su día con un toque. Autonomía, no vigilancia.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46704" y="274320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75404" y="2971800"/>
            <a:ext cx="640080" cy="64008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75404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83864" y="3703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familiar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11296" y="4251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rutinas y recibe los avisos primero.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44768" y="274320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73468" y="2971800"/>
            <a:ext cx="640080" cy="640080"/>
          </a:xfrm>
          <a:prstGeom prst="ellipse">
            <a:avLst/>
          </a:prstGeom>
          <a:solidFill>
            <a:srgbClr val="2A76C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73468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81928" y="3703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9360" y="4251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 el estado y responden; se reparten la carga.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42832" y="274320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971532" y="2971800"/>
            <a:ext cx="640080" cy="640080"/>
          </a:xfrm>
          <a:prstGeom prst="ellipse">
            <a:avLst/>
          </a:prstGeom>
          <a:solidFill>
            <a:srgbClr val="E0902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971532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79992" y="3703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Cuidador (opcional)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07424" y="4251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uno contratado, registra sus visitas.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en Casa · línea B2C · concepto (requiere contrato v0.2)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Box 27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· avisar · registrar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80960" cy="1234440"/>
          </a:xfrm>
          <a:prstGeom prst="roundRect">
            <a:avLst>
              <a:gd name="adj" fmla="val 5926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0E8A8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el día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29514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mayor toca "Estoy bien"; el cuidador registra su visita.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7680960" cy="1234440"/>
          </a:xfrm>
          <a:prstGeom prst="roundRect">
            <a:avLst>
              <a:gd name="adj" fmla="val 5926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E0902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24612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si falta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66674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check-in no llega a tiempo, avisa a la familia en cadena.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7680960" cy="1234440"/>
          </a:xfrm>
          <a:prstGeom prst="roundRect">
            <a:avLst>
              <a:gd name="adj" fmla="val 5926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800600"/>
            <a:ext cx="502920" cy="50292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61772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registrado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503834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guarda en una bitácora que la familia comparte.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137160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308592" y="154533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D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053828" y="143560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F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308592" y="154533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123A3E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308592" y="1865376"/>
            <a:ext cx="2002536" cy="246888"/>
          </a:xfrm>
          <a:prstGeom prst="rect">
            <a:avLst/>
          </a:prstGeom>
          <a:solidFill>
            <a:srgbClr val="123A3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54896" y="163677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Mamá · Hoy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54896" y="2258568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454896" y="2258568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Todo bien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54896" y="2752344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46336" y="287121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546336" y="2852928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57232" y="27523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524744" y="27523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54896" y="328269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546336" y="3401568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546336" y="338328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857232" y="32826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524744" y="32826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54896" y="381304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546336" y="3931920"/>
            <a:ext cx="219456" cy="219456"/>
          </a:xfrm>
          <a:prstGeom prst="ellipse">
            <a:avLst/>
          </a:prstGeom>
          <a:solidFill>
            <a:srgbClr val="E0902B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546336" y="391363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857232" y="3813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524744" y="3813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454896" y="434340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546336" y="4462272"/>
            <a:ext cx="219456" cy="219456"/>
          </a:xfrm>
          <a:prstGeom prst="ellipse">
            <a:avLst/>
          </a:prstGeom>
          <a:solidFill>
            <a:srgbClr val="6B7A80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546336" y="4443984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857232" y="4343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524744" y="4343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454896" y="5084064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Familia: Ana · Luis · tú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en Casa · línea B2C · concepto (requiere contrato v0.2)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0" name="TextBox 49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para la familia y para papá o mamá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55448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07592" y="172821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052828" y="161848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07592" y="172821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0E8A8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07592" y="2048256"/>
            <a:ext cx="2002536" cy="246888"/>
          </a:xfrm>
          <a:prstGeom prst="rect">
            <a:avLst/>
          </a:prstGeom>
          <a:solidFill>
            <a:srgbClr val="0E8A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453896" y="181965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53896" y="2441448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Doña Carmen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53896" y="2715768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21 de julio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41932" y="3099816"/>
            <a:ext cx="1133856" cy="113385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741932" y="3099816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453896" y="4343400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bien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53896" y="4654296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para confirmar tu día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53896" y="5020056"/>
            <a:ext cx="1709928" cy="384048"/>
          </a:xfrm>
          <a:prstGeom prst="roundRect">
            <a:avLst>
              <a:gd name="adj" fmla="val 23810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53896" y="502005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6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ayuda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83480" y="155448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102352" y="172821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D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847588" y="161848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F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102352" y="172821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123A3E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102352" y="2048256"/>
            <a:ext cx="2002536" cy="246888"/>
          </a:xfrm>
          <a:prstGeom prst="rect">
            <a:avLst/>
          </a:prstGeom>
          <a:solidFill>
            <a:srgbClr val="123A3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48656" y="181965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Mamá · Hoy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48656" y="2441448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48656" y="2441448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Todo bien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48656" y="2935224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340096" y="30540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340096" y="3035808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50992" y="293522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18504" y="29352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48656" y="346557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340096" y="3584448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40096" y="356616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50992" y="34655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18504" y="34655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48656" y="399592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340096" y="4114800"/>
            <a:ext cx="219456" cy="219456"/>
          </a:xfrm>
          <a:prstGeom prst="ellipse">
            <a:avLst/>
          </a:prstGeom>
          <a:solidFill>
            <a:srgbClr val="E0902B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340096" y="409651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50992" y="39959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18504" y="39959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48656" y="452628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340096" y="4645152"/>
            <a:ext cx="219456" cy="219456"/>
          </a:xfrm>
          <a:prstGeom prst="ellipse">
            <a:avLst/>
          </a:prstGeom>
          <a:solidFill>
            <a:srgbClr val="6B7A80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340096" y="4626864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50992" y="4526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18504" y="4526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48656" y="5266944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Familia: Ana · Luis · tú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778240" y="155448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F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897112" y="172821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D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642348" y="161848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F"/>
          </a:solidFill>
          <a:ln/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8897112" y="172821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E4695E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8897112" y="2048256"/>
            <a:ext cx="2002536" cy="246888"/>
          </a:xfrm>
          <a:prstGeom prst="rect">
            <a:avLst/>
          </a:prstGeom>
          <a:solidFill>
            <a:srgbClr val="E4695E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043416" y="181965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Aviso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043416" y="2505456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de la tarde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confirmar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043416" y="3191256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18:20 · sin respuesta de Doña Carmen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43416" y="3602736"/>
            <a:ext cx="1709928" cy="502920"/>
          </a:xfrm>
          <a:prstGeom prst="roundRect">
            <a:avLst>
              <a:gd name="adj" fmla="val 14545"/>
            </a:avLst>
          </a:prstGeom>
          <a:solidFill>
            <a:srgbClr val="FCEEEC"/>
          </a:solidFill>
          <a:ln w="12700">
            <a:solidFill>
              <a:srgbClr val="E4695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9153144" y="3602736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Avisamos a: Ana → Luis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043416" y="4270248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E4695E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9043416" y="427024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a mamá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9043416" y="4800600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9043416" y="480060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la verifiqué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00584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bien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68680" y="608990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mayor confirma su día de un toque.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80060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familia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663440" y="608990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día y check-ins, visible para todos.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59536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 tiempo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8458200" y="608990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a la familia si algo no se confirma.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9144000" y="457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ilustrativos · datos ficticios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9" name="TextBox 68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gratis, crece con tu familia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9718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adulto mayor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 y "Estoy bien"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básica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familiar coordinador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69164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123A3E"/>
          </a:solidFill>
          <a:ln w="12700">
            <a:solidFill>
              <a:srgbClr val="123A3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276088" y="146304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76088" y="14630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0288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0288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[precio]/mes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8576" y="29718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Gratis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familiares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por SMS/WhatsApp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69164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57616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57616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[precio]/mes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75904" y="29718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Familia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Asiento para cuidador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mensuales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prioritario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freemium por hogar. El plan gratis crea el hábito; los avisos externos y los asientos de cuidador son de pago.  [Complete montos.]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en Casa · línea B2C · concepto (requiere contrato v0.2)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1" name="TextBox 20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 y cómo gana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0E8A8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201168"/>
          </a:xfrm>
          <a:prstGeom prst="rect">
            <a:avLst/>
          </a:prstGeom>
          <a:solidFill>
            <a:srgbClr val="0E8A8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7099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Hijos adultos (30–60) que cuidan a distancia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mayores autónomos en casa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migrantes (ángulo remesas)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15968" y="2148840"/>
            <a:ext cx="3566160" cy="201168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44568" y="17099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 al consumidor (app)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B2B2C: agencias de cuidado, farmacias, aseguradoras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Asociaciones y comunidades de mayores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1F7F8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83296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E0902B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83296" y="2148840"/>
            <a:ext cx="3566160" cy="201168"/>
          </a:xfrm>
          <a:prstGeom prst="rect">
            <a:avLst/>
          </a:prstGeom>
          <a:solidFill>
            <a:srgbClr val="E0902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11896" y="17099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256032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por hogar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Add-ons: cuidador, avisos, reportes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de socios B2B2C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ángulo remesas abre un pagador transfronterizo: un hijo en EE. UU. paga la tranquilidad de un padre en México.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en Casa · línea B2C · concepto (requiere contrato v0.2)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QUE CONSTRUIR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 el motor; agrega lo del hogar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069080"/>
          </a:xfrm>
          <a:prstGeom prst="roundRect">
            <a:avLst>
              <a:gd name="adj" fmla="val 1798"/>
            </a:avLst>
          </a:prstGeom>
          <a:solidFill>
            <a:srgbClr val="EAF6F0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755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existe (se reutiliza)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estados: check-in → aviso → verificación → cierre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cuidador móvil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auditable append-only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verde/amarillo/rojo derivado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68112" cy="4069080"/>
          </a:xfrm>
          <a:prstGeom prst="roundRect">
            <a:avLst>
              <a:gd name="adj" fmla="val 1798"/>
            </a:avLst>
          </a:prstGeom>
          <a:solidFill>
            <a:srgbClr val="FDF1EC"/>
          </a:solidFill>
          <a:ln w="12700">
            <a:solidFill>
              <a:srgbClr val="E1EAE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0" y="1755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6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agregar (v0.2)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SMS/WhatsApp/push — hoy FUERA de alcance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Multi-hogar (en vez de multi-residencia)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Auto-check-in del adulto mayor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familiar y roles nuevos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y privacidad del adulto mayor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los avisos externos son el núcleo de esta línea y hoy están excluidos del MVP → dispara una nueva versión del contrato (v0.2), no un ajuste menor.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en Casa · línea B2C · concepto (requiere contrato v0.2)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023360"/>
            <a:ext cx="4206240" cy="4206240"/>
          </a:xfrm>
          <a:prstGeom prst="ellipse">
            <a:avLst/>
          </a:prstGeom>
          <a:solidFill>
            <a:srgbClr val="1A4E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HONESTOS Y SIGUIENTE PASO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Tranquilidad, no vigilancia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2788920"/>
          </a:xfrm>
          <a:prstGeom prst="roundRect">
            <a:avLst>
              <a:gd name="adj" fmla="val 3279"/>
            </a:avLst>
          </a:prstGeom>
          <a:solidFill>
            <a:srgbClr val="1A4E52"/>
          </a:solidFill>
          <a:ln w="19050">
            <a:solidFill>
              <a:srgbClr val="E4695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dispositivo médico ni diagnóstico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detecta caídas ni signos vitales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al 911 ni a emergencias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consentimiento del adulto mayor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86400" cy="2788920"/>
          </a:xfrm>
          <a:prstGeom prst="roundRect">
            <a:avLst>
              <a:gd name="adj" fmla="val 3279"/>
            </a:avLst>
          </a:prstGeom>
          <a:solidFill>
            <a:srgbClr val="1A4E52"/>
          </a:solidFill>
          <a:ln w="19050">
            <a:solidFill>
              <a:srgbClr val="0E8A8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4652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5146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propuesta con 15–20 familias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contrato v0.2 (notificaciones + multi-hogar)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espera / beta cerrada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alianza B2B2C con una agencia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E8A8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apuesta.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el motor probado de CareSignal en un servicio de tranquilidad para millones de familias que cuidan a distancia — con dignidad y sin falsas promesas.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en Casa · concepto de línea B2C · apoya la operación del cuidado, no es un dispositivo médico</a:t>
            </a:r>
            <a:endParaRPr lang="en-US" sz="950" dirty="0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CareSignal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CareSignal en Casa — Mini deck</dc:title>
  <dc:subject>CareSignal — modelo creado por Roberto García</dc:subject>
  <dc:creator>Roberto García</dc:creator>
  <cp:lastModifiedBy>Roberto García</cp:lastModifiedBy>
  <cp:revision>1</cp:revision>
  <dcterms:created xsi:type="dcterms:W3CDTF">2026-07-19T21:07:17Z</dcterms:created>
  <dcterms:modified xsi:type="dcterms:W3CDTF">2026-07-19T21:07:17Z</dcterms:modified>
  <cp:category>Presentación ejecutiva</cp:category>
  <dc:description>© 2026 Roberto García. Todos los derechos reservados. Contacto: linkedin.com/in/robertogarciaits · robertogarciaits@gmail.com · 844 588 1313</dc:description>
  <cp:keywords>CareSignal, Roberto García, cuidado adulto mayor, MVP</cp:keywords>
  <cp:contentStatus>Confidencial</cp:contentStatus>
  <dc:language>es-MX</dc:language>
</cp:coreProperties>
</file>